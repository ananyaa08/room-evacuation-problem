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1" autoAdjust="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67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8312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194560"/>
            <a:ext cx="6400800" cy="6400800"/>
          </a:xfrm>
          <a:prstGeom prst="ellipse">
            <a:avLst/>
          </a:prstGeom>
          <a:solidFill>
            <a:srgbClr val="141B47"/>
          </a:solidFill>
          <a:ln/>
        </p:spPr>
      </p:sp>
      <p:sp>
        <p:nvSpPr>
          <p:cNvPr id="3" name="Shape 1"/>
          <p:cNvSpPr/>
          <p:nvPr/>
        </p:nvSpPr>
        <p:spPr>
          <a:xfrm>
            <a:off x="9692640" y="-1280160"/>
            <a:ext cx="4572000" cy="4572000"/>
          </a:xfrm>
          <a:prstGeom prst="ellipse">
            <a:avLst/>
          </a:prstGeom>
          <a:ln w="15875">
            <a:solidFill>
              <a:srgbClr val="CADCFC">
                <a:alpha val="40000"/>
              </a:srgbClr>
            </a:solidFill>
            <a:prstDash val="solid"/>
          </a:ln>
        </p:spPr>
      </p:sp>
      <p:sp>
        <p:nvSpPr>
          <p:cNvPr id="4" name="Shape 2"/>
          <p:cNvSpPr/>
          <p:nvPr/>
        </p:nvSpPr>
        <p:spPr>
          <a:xfrm>
            <a:off x="10607040" y="-365760"/>
            <a:ext cx="2743200" cy="2743200"/>
          </a:xfrm>
          <a:prstGeom prst="ellipse">
            <a:avLst/>
          </a:prstGeom>
          <a:ln w="19050">
            <a:solidFill>
              <a:srgbClr val="E3A857">
                <a:alpha val="80000"/>
              </a:srgbClr>
            </a:solidFill>
            <a:prstDash val="solid"/>
          </a:ln>
        </p:spPr>
      </p:sp>
      <p:sp>
        <p:nvSpPr>
          <p:cNvPr id="5" name="Text 3"/>
          <p:cNvSpPr txBox="1"/>
          <p:nvPr/>
        </p:nvSpPr>
        <p:spPr>
          <a:xfrm>
            <a:off x="640080" y="1417320"/>
            <a:ext cx="8229600" cy="365760"/>
          </a:xfrm>
          <a:prstGeom prst="rect">
            <a:avLst/>
          </a:prstGeom>
          <a:noFill/>
          <a:ln/>
        </p:spPr>
        <p:txBody>
          <a:bodyPr wrap="square" lIns="0" tIns="0" rIns="0" bIns="0" rtlCol="0" anchor="ctr"/>
          <a:lstStyle/>
          <a:p>
            <a:pPr marL="0" indent="0">
              <a:buNone/>
            </a:pPr>
            <a:r>
              <a:rPr lang="en-US" sz="1400" b="1" kern="0" spc="200" dirty="0">
                <a:solidFill>
                  <a:srgbClr val="E3A857"/>
                </a:solidFill>
                <a:latin typeface="Calibri" pitchFamily="34" charset="0"/>
                <a:ea typeface="Calibri" pitchFamily="34" charset="-122"/>
                <a:cs typeface="Calibri" pitchFamily="34" charset="-120"/>
              </a:rPr>
              <a:t>UNDERGRADUATE PROJECT — PROGRESS PRESENTATION</a:t>
            </a:r>
            <a:endParaRPr lang="en-US" sz="1400" dirty="0"/>
          </a:p>
        </p:txBody>
      </p:sp>
      <p:sp>
        <p:nvSpPr>
          <p:cNvPr id="6" name="Text 4"/>
          <p:cNvSpPr txBox="1"/>
          <p:nvPr/>
        </p:nvSpPr>
        <p:spPr>
          <a:xfrm>
            <a:off x="640080" y="1874520"/>
            <a:ext cx="9875520" cy="173736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Evacuation of a Crowd from a</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Rectangular Auditorium with a Stage</a:t>
            </a:r>
            <a:endParaRPr lang="en-US" sz="4000" dirty="0"/>
          </a:p>
        </p:txBody>
      </p:sp>
      <p:sp>
        <p:nvSpPr>
          <p:cNvPr id="7" name="Text 5"/>
          <p:cNvSpPr txBox="1"/>
          <p:nvPr/>
        </p:nvSpPr>
        <p:spPr>
          <a:xfrm>
            <a:off x="640080" y="3611880"/>
            <a:ext cx="8778240" cy="731520"/>
          </a:xfrm>
          <a:prstGeom prst="rect">
            <a:avLst/>
          </a:prstGeom>
          <a:noFill/>
          <a:ln/>
        </p:spPr>
        <p:txBody>
          <a:bodyPr wrap="square" lIns="0" tIns="0" rIns="0" bIns="0" rtlCol="0" anchor="ctr"/>
          <a:lstStyle/>
          <a:p>
            <a:pPr marL="0" indent="0">
              <a:lnSpc>
                <a:spcPct val="120000"/>
              </a:lnSpc>
              <a:buNone/>
            </a:pPr>
            <a:r>
              <a:rPr lang="en-US" sz="1500" i="1" dirty="0">
                <a:solidFill>
                  <a:srgbClr val="CADCFC"/>
                </a:solidFill>
                <a:latin typeface="Calibri" pitchFamily="34" charset="0"/>
                <a:ea typeface="Calibri" pitchFamily="34" charset="-122"/>
                <a:cs typeface="Calibri" pitchFamily="34" charset="-120"/>
              </a:rPr>
              <a:t>A macroscopic (density-based) simulation of fixed-door evacuation strategies,</a:t>
            </a:r>
            <a:endParaRPr lang="en-US" sz="1500" dirty="0"/>
          </a:p>
          <a:p>
            <a:pPr marL="0" indent="0">
              <a:lnSpc>
                <a:spcPct val="120000"/>
              </a:lnSpc>
              <a:buNone/>
            </a:pPr>
            <a:r>
              <a:rPr lang="en-US" sz="1500" i="1" dirty="0">
                <a:solidFill>
                  <a:srgbClr val="CADCFC"/>
                </a:solidFill>
                <a:latin typeface="Calibri" pitchFamily="34" charset="0"/>
                <a:ea typeface="Calibri" pitchFamily="34" charset="-122"/>
                <a:cs typeface="Calibri" pitchFamily="34" charset="-120"/>
              </a:rPr>
              <a:t>using an eikonal-equation crowd model solved with a WENO fast-sweeping scheme.</a:t>
            </a:r>
            <a:endParaRPr lang="en-US" sz="1500" dirty="0"/>
          </a:p>
        </p:txBody>
      </p:sp>
      <p:sp>
        <p:nvSpPr>
          <p:cNvPr id="8" name="Shape 6"/>
          <p:cNvSpPr/>
          <p:nvPr/>
        </p:nvSpPr>
        <p:spPr>
          <a:xfrm>
            <a:off x="640080" y="4617720"/>
            <a:ext cx="2926080" cy="0"/>
          </a:xfrm>
          <a:prstGeom prst="line">
            <a:avLst/>
          </a:prstGeom>
          <a:noFill/>
          <a:ln w="25400">
            <a:solidFill>
              <a:srgbClr val="E3A857"/>
            </a:solidFill>
            <a:prstDash val="solid"/>
          </a:ln>
        </p:spPr>
      </p:sp>
      <p:sp>
        <p:nvSpPr>
          <p:cNvPr id="9" name="Text 7"/>
          <p:cNvSpPr txBox="1"/>
          <p:nvPr/>
        </p:nvSpPr>
        <p:spPr>
          <a:xfrm>
            <a:off x="640080" y="4846320"/>
            <a:ext cx="5029200" cy="320040"/>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Student: </a:t>
            </a:r>
            <a:r>
              <a:rPr lang="en-US" sz="1300" dirty="0">
                <a:solidFill>
                  <a:srgbClr val="FFFFFF"/>
                </a:solidFill>
                <a:latin typeface="Calibri" pitchFamily="34" charset="0"/>
                <a:ea typeface="Calibri" pitchFamily="34" charset="-122"/>
                <a:cs typeface="Calibri" pitchFamily="34" charset="-120"/>
              </a:rPr>
              <a:t>Ananya Narayani</a:t>
            </a:r>
          </a:p>
        </p:txBody>
      </p:sp>
      <p:sp>
        <p:nvSpPr>
          <p:cNvPr id="10" name="Text 8"/>
          <p:cNvSpPr txBox="1"/>
          <p:nvPr/>
        </p:nvSpPr>
        <p:spPr>
          <a:xfrm>
            <a:off x="640080" y="5603367"/>
            <a:ext cx="5029200" cy="320040"/>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Guide</a:t>
            </a:r>
            <a:r>
              <a:rPr lang="en-US" sz="1300" dirty="0">
                <a:solidFill>
                  <a:srgbClr val="CADCFC"/>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Sanjay Mittal</a:t>
            </a:r>
            <a:endParaRPr lang="en-US" sz="1300" dirty="0"/>
          </a:p>
        </p:txBody>
      </p:sp>
      <p:sp>
        <p:nvSpPr>
          <p:cNvPr id="11" name="Text 9"/>
          <p:cNvSpPr txBox="1"/>
          <p:nvPr/>
        </p:nvSpPr>
        <p:spPr>
          <a:xfrm>
            <a:off x="640080" y="5979414"/>
            <a:ext cx="5029200" cy="320040"/>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Date: </a:t>
            </a:r>
            <a:r>
              <a:rPr lang="en-US" sz="1300" dirty="0">
                <a:solidFill>
                  <a:srgbClr val="FFFFFF"/>
                </a:solidFill>
                <a:latin typeface="Calibri" pitchFamily="34" charset="0"/>
                <a:ea typeface="Calibri" pitchFamily="34" charset="-122"/>
                <a:cs typeface="Calibri" pitchFamily="34" charset="-120"/>
              </a:rPr>
              <a:t>29/09/26</a:t>
            </a:r>
            <a:endParaRPr lang="en-US" sz="1300" dirty="0"/>
          </a:p>
        </p:txBody>
      </p:sp>
      <p:sp>
        <p:nvSpPr>
          <p:cNvPr id="13" name="Text 7">
            <a:extLst>
              <a:ext uri="{FF2B5EF4-FFF2-40B4-BE49-F238E27FC236}">
                <a16:creationId xmlns:a16="http://schemas.microsoft.com/office/drawing/2014/main" id="{27008F98-7691-8675-D014-108295FD0B18}"/>
              </a:ext>
            </a:extLst>
          </p:cNvPr>
          <p:cNvSpPr txBox="1"/>
          <p:nvPr/>
        </p:nvSpPr>
        <p:spPr>
          <a:xfrm>
            <a:off x="640080" y="5202555"/>
            <a:ext cx="5029200" cy="320040"/>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Roll Number: </a:t>
            </a:r>
            <a:r>
              <a:rPr lang="en-US" sz="1300" dirty="0">
                <a:solidFill>
                  <a:srgbClr val="FFFFFF"/>
                </a:solidFill>
                <a:latin typeface="Calibri" pitchFamily="34" charset="0"/>
                <a:ea typeface="Calibri" pitchFamily="34" charset="-122"/>
                <a:cs typeface="Calibri" pitchFamily="34" charset="-120"/>
              </a:rPr>
              <a:t>230134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01  ·  PROBLEM STATEMENT</a:t>
            </a:r>
            <a:endParaRPr lang="en-US" sz="1300" dirty="0"/>
          </a:p>
        </p:txBody>
      </p:sp>
      <p:sp>
        <p:nvSpPr>
          <p:cNvPr id="3" name="Text 1"/>
          <p:cNvSpPr txBox="1"/>
          <p:nvPr/>
        </p:nvSpPr>
        <p:spPr>
          <a:xfrm>
            <a:off x="548640" y="713232"/>
            <a:ext cx="7315200" cy="548640"/>
          </a:xfrm>
          <a:prstGeom prst="rect">
            <a:avLst/>
          </a:prstGeom>
          <a:noFill/>
          <a:ln/>
        </p:spPr>
        <p:txBody>
          <a:bodyPr wrap="square" lIns="0" tIns="0" rIns="0" bIns="0" rtlCol="0" anchor="ctr"/>
          <a:lstStyle/>
          <a:p>
            <a:pPr marL="0" indent="0">
              <a:buNone/>
            </a:pPr>
            <a:r>
              <a:rPr lang="en-US" sz="2800" b="1" dirty="0">
                <a:solidFill>
                  <a:srgbClr val="1B1F2A"/>
                </a:solidFill>
                <a:latin typeface="Cambria" pitchFamily="34" charset="0"/>
                <a:ea typeface="Cambria" pitchFamily="34" charset="-122"/>
                <a:cs typeface="Cambria" pitchFamily="34" charset="-120"/>
              </a:rPr>
              <a:t>What are we trying to solve?</a:t>
            </a:r>
            <a:endParaRPr lang="en-US" sz="2800" dirty="0"/>
          </a:p>
        </p:txBody>
      </p:sp>
      <p:sp>
        <p:nvSpPr>
          <p:cNvPr id="4" name="Shape 2"/>
          <p:cNvSpPr/>
          <p:nvPr/>
        </p:nvSpPr>
        <p:spPr>
          <a:xfrm>
            <a:off x="548640" y="1463040"/>
            <a:ext cx="6400800" cy="4754880"/>
          </a:xfrm>
          <a:prstGeom prst="roundRect">
            <a:avLst>
              <a:gd name="adj" fmla="val 1538"/>
            </a:avLst>
          </a:prstGeom>
          <a:solidFill>
            <a:srgbClr val="F3F5FC"/>
          </a:solidFill>
          <a:ln/>
        </p:spPr>
      </p:sp>
      <p:sp>
        <p:nvSpPr>
          <p:cNvPr id="5" name="Shape 3"/>
          <p:cNvSpPr/>
          <p:nvPr/>
        </p:nvSpPr>
        <p:spPr>
          <a:xfrm>
            <a:off x="868680" y="1810512"/>
            <a:ext cx="146304" cy="146304"/>
          </a:xfrm>
          <a:prstGeom prst="ellipse">
            <a:avLst/>
          </a:prstGeom>
          <a:solidFill>
            <a:srgbClr val="E3A857"/>
          </a:solidFill>
          <a:ln/>
        </p:spPr>
      </p:sp>
      <p:sp>
        <p:nvSpPr>
          <p:cNvPr id="6" name="Text 4"/>
          <p:cNvSpPr txBox="1"/>
          <p:nvPr/>
        </p:nvSpPr>
        <p:spPr>
          <a:xfrm>
            <a:off x="1170432" y="1664208"/>
            <a:ext cx="5440680" cy="777240"/>
          </a:xfrm>
          <a:prstGeom prst="rect">
            <a:avLst/>
          </a:prstGeom>
          <a:noFill/>
          <a:ln/>
        </p:spPr>
        <p:txBody>
          <a:bodyPr wrap="square" lIns="0" tIns="0" rIns="0" bIns="0" rtlCol="0" anchor="t"/>
          <a:lstStyle/>
          <a:p>
            <a:pPr marL="0" indent="0">
              <a:lnSpc>
                <a:spcPct val="112000"/>
              </a:lnSpc>
              <a:buNone/>
            </a:pPr>
            <a:r>
              <a:rPr lang="en-US" sz="1450" dirty="0">
                <a:solidFill>
                  <a:srgbClr val="1B1F2A"/>
                </a:solidFill>
                <a:latin typeface="Calibri" pitchFamily="34" charset="0"/>
                <a:ea typeface="Calibri" pitchFamily="34" charset="-122"/>
                <a:cs typeface="Calibri" pitchFamily="34" charset="-120"/>
              </a:rPr>
              <a:t>Room geometry: a rectangular hall with side ratio 1 : 3 (30 m × 90 m).</a:t>
            </a:r>
            <a:endParaRPr lang="en-US" sz="1450" dirty="0"/>
          </a:p>
        </p:txBody>
      </p:sp>
      <p:sp>
        <p:nvSpPr>
          <p:cNvPr id="7" name="Shape 5"/>
          <p:cNvSpPr/>
          <p:nvPr/>
        </p:nvSpPr>
        <p:spPr>
          <a:xfrm>
            <a:off x="868680" y="2670048"/>
            <a:ext cx="146304" cy="146304"/>
          </a:xfrm>
          <a:prstGeom prst="ellipse">
            <a:avLst/>
          </a:prstGeom>
          <a:solidFill>
            <a:srgbClr val="E3A857"/>
          </a:solidFill>
          <a:ln/>
        </p:spPr>
      </p:sp>
      <p:sp>
        <p:nvSpPr>
          <p:cNvPr id="8" name="Text 6"/>
          <p:cNvSpPr txBox="1"/>
          <p:nvPr/>
        </p:nvSpPr>
        <p:spPr>
          <a:xfrm>
            <a:off x="1170432" y="2523744"/>
            <a:ext cx="5440680" cy="777240"/>
          </a:xfrm>
          <a:prstGeom prst="rect">
            <a:avLst/>
          </a:prstGeom>
          <a:noFill/>
          <a:ln/>
        </p:spPr>
        <p:txBody>
          <a:bodyPr wrap="square" lIns="0" tIns="0" rIns="0" bIns="0" rtlCol="0" anchor="t"/>
          <a:lstStyle/>
          <a:p>
            <a:pPr marL="0" indent="0">
              <a:lnSpc>
                <a:spcPct val="112000"/>
              </a:lnSpc>
              <a:buNone/>
            </a:pPr>
            <a:r>
              <a:rPr lang="en-US" sz="1450" dirty="0">
                <a:solidFill>
                  <a:srgbClr val="1B1F2A"/>
                </a:solidFill>
                <a:latin typeface="Calibri" pitchFamily="34" charset="0"/>
                <a:ea typeface="Calibri" pitchFamily="34" charset="-122"/>
                <a:cs typeface="Calibri" pitchFamily="34" charset="-120"/>
              </a:rPr>
              <a:t>The stage occupies the full-width front block — it is not an exit.</a:t>
            </a:r>
            <a:endParaRPr lang="en-US" sz="1450" dirty="0"/>
          </a:p>
        </p:txBody>
      </p:sp>
      <p:sp>
        <p:nvSpPr>
          <p:cNvPr id="9" name="Shape 7"/>
          <p:cNvSpPr/>
          <p:nvPr/>
        </p:nvSpPr>
        <p:spPr>
          <a:xfrm>
            <a:off x="868680" y="3529584"/>
            <a:ext cx="146304" cy="146304"/>
          </a:xfrm>
          <a:prstGeom prst="ellipse">
            <a:avLst/>
          </a:prstGeom>
          <a:solidFill>
            <a:srgbClr val="E3A857"/>
          </a:solidFill>
          <a:ln/>
        </p:spPr>
      </p:sp>
      <p:sp>
        <p:nvSpPr>
          <p:cNvPr id="10" name="Text 8"/>
          <p:cNvSpPr txBox="1"/>
          <p:nvPr/>
        </p:nvSpPr>
        <p:spPr>
          <a:xfrm>
            <a:off x="1170432" y="3383280"/>
            <a:ext cx="5440680" cy="777240"/>
          </a:xfrm>
          <a:prstGeom prst="rect">
            <a:avLst/>
          </a:prstGeom>
          <a:noFill/>
          <a:ln/>
        </p:spPr>
        <p:txBody>
          <a:bodyPr wrap="square" lIns="0" tIns="0" rIns="0" bIns="0" rtlCol="0" anchor="t"/>
          <a:lstStyle/>
          <a:p>
            <a:pPr marL="0" indent="0">
              <a:lnSpc>
                <a:spcPct val="112000"/>
              </a:lnSpc>
              <a:buNone/>
            </a:pPr>
            <a:r>
              <a:rPr lang="en-US" sz="1450" dirty="0">
                <a:solidFill>
                  <a:srgbClr val="1B1F2A"/>
                </a:solidFill>
                <a:latin typeface="Calibri" pitchFamily="34" charset="0"/>
                <a:ea typeface="Calibri" pitchFamily="34" charset="-122"/>
                <a:cs typeface="Calibri" pitchFamily="34" charset="-120"/>
              </a:rPr>
              <a:t>The 3 remaining walls carry 4 fixed doors, opened one at a time, each 2 m wide.</a:t>
            </a:r>
            <a:endParaRPr lang="en-US" sz="1450" dirty="0"/>
          </a:p>
        </p:txBody>
      </p:sp>
      <p:sp>
        <p:nvSpPr>
          <p:cNvPr id="11" name="Shape 9"/>
          <p:cNvSpPr/>
          <p:nvPr/>
        </p:nvSpPr>
        <p:spPr>
          <a:xfrm>
            <a:off x="868680" y="4389120"/>
            <a:ext cx="146304" cy="146304"/>
          </a:xfrm>
          <a:prstGeom prst="ellipse">
            <a:avLst/>
          </a:prstGeom>
          <a:solidFill>
            <a:srgbClr val="E3A857"/>
          </a:solidFill>
          <a:ln/>
        </p:spPr>
      </p:sp>
      <p:sp>
        <p:nvSpPr>
          <p:cNvPr id="12" name="Text 10"/>
          <p:cNvSpPr txBox="1"/>
          <p:nvPr/>
        </p:nvSpPr>
        <p:spPr>
          <a:xfrm>
            <a:off x="1170432" y="4242816"/>
            <a:ext cx="5440680" cy="777240"/>
          </a:xfrm>
          <a:prstGeom prst="rect">
            <a:avLst/>
          </a:prstGeom>
          <a:noFill/>
          <a:ln/>
        </p:spPr>
        <p:txBody>
          <a:bodyPr wrap="square" lIns="0" tIns="0" rIns="0" bIns="0" rtlCol="0" anchor="t"/>
          <a:lstStyle/>
          <a:p>
            <a:pPr marL="0" indent="0">
              <a:lnSpc>
                <a:spcPct val="112000"/>
              </a:lnSpc>
              <a:buNone/>
            </a:pPr>
            <a:r>
              <a:rPr lang="en-US" sz="1450" dirty="0">
                <a:solidFill>
                  <a:srgbClr val="1B1F2A"/>
                </a:solidFill>
                <a:latin typeface="Calibri" pitchFamily="34" charset="0"/>
                <a:ea typeface="Calibri" pitchFamily="34" charset="-122"/>
                <a:cs typeface="Calibri" pitchFamily="34" charset="-120"/>
              </a:rPr>
              <a:t>Objective: measure how evacuation time changes as more doors are opened.</a:t>
            </a:r>
            <a:endParaRPr lang="en-US" sz="1450" dirty="0"/>
          </a:p>
        </p:txBody>
      </p:sp>
      <p:sp>
        <p:nvSpPr>
          <p:cNvPr id="13" name="Shape 11"/>
          <p:cNvSpPr/>
          <p:nvPr/>
        </p:nvSpPr>
        <p:spPr>
          <a:xfrm>
            <a:off x="868680" y="5248656"/>
            <a:ext cx="146304" cy="146304"/>
          </a:xfrm>
          <a:prstGeom prst="ellipse">
            <a:avLst/>
          </a:prstGeom>
          <a:solidFill>
            <a:srgbClr val="E3A857"/>
          </a:solidFill>
          <a:ln/>
        </p:spPr>
      </p:sp>
      <p:sp>
        <p:nvSpPr>
          <p:cNvPr id="14" name="Text 12"/>
          <p:cNvSpPr txBox="1"/>
          <p:nvPr/>
        </p:nvSpPr>
        <p:spPr>
          <a:xfrm>
            <a:off x="1170432" y="5102352"/>
            <a:ext cx="5440680" cy="777240"/>
          </a:xfrm>
          <a:prstGeom prst="rect">
            <a:avLst/>
          </a:prstGeom>
          <a:noFill/>
          <a:ln/>
        </p:spPr>
        <p:txBody>
          <a:bodyPr wrap="square" lIns="0" tIns="0" rIns="0" bIns="0" rtlCol="0" anchor="t"/>
          <a:lstStyle/>
          <a:p>
            <a:pPr marL="0" indent="0">
              <a:lnSpc>
                <a:spcPct val="112000"/>
              </a:lnSpc>
              <a:buNone/>
            </a:pPr>
            <a:r>
              <a:rPr lang="en-US" sz="1450" dirty="0">
                <a:solidFill>
                  <a:srgbClr val="1B1F2A"/>
                </a:solidFill>
                <a:latin typeface="Calibri" pitchFamily="34" charset="0"/>
                <a:ea typeface="Calibri" pitchFamily="34" charset="-122"/>
                <a:cs typeface="Calibri" pitchFamily="34" charset="-120"/>
              </a:rPr>
              <a:t>Extension studied: increase the door count to 10 doors across the same 3 walls, and compare against a special 2-wall layout.</a:t>
            </a:r>
            <a:endParaRPr lang="en-US" sz="1450" dirty="0"/>
          </a:p>
        </p:txBody>
      </p:sp>
      <p:sp>
        <p:nvSpPr>
          <p:cNvPr id="15" name="Shape 13"/>
          <p:cNvSpPr/>
          <p:nvPr/>
        </p:nvSpPr>
        <p:spPr>
          <a:xfrm>
            <a:off x="7315200" y="1737360"/>
            <a:ext cx="4206240" cy="2377440"/>
          </a:xfrm>
          <a:prstGeom prst="rect">
            <a:avLst/>
          </a:prstGeom>
          <a:solidFill>
            <a:srgbClr val="FFFFFF"/>
          </a:solidFill>
          <a:ln w="25400">
            <a:solidFill>
              <a:srgbClr val="1E2761"/>
            </a:solidFill>
            <a:prstDash val="solid"/>
          </a:ln>
        </p:spPr>
      </p:sp>
      <p:sp>
        <p:nvSpPr>
          <p:cNvPr id="16" name="Shape 14"/>
          <p:cNvSpPr/>
          <p:nvPr/>
        </p:nvSpPr>
        <p:spPr>
          <a:xfrm>
            <a:off x="7315200" y="1737360"/>
            <a:ext cx="757123" cy="2377440"/>
          </a:xfrm>
          <a:prstGeom prst="rect">
            <a:avLst/>
          </a:prstGeom>
          <a:solidFill>
            <a:srgbClr val="1E2761"/>
          </a:solidFill>
          <a:ln/>
        </p:spPr>
      </p:sp>
      <p:sp>
        <p:nvSpPr>
          <p:cNvPr id="17" name="Text 15"/>
          <p:cNvSpPr txBox="1"/>
          <p:nvPr/>
        </p:nvSpPr>
        <p:spPr>
          <a:xfrm rot="16200000">
            <a:off x="7269480" y="2423160"/>
            <a:ext cx="848563" cy="10058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STAGE</a:t>
            </a:r>
            <a:endParaRPr lang="en-US" sz="900" dirty="0"/>
          </a:p>
        </p:txBody>
      </p:sp>
      <p:sp>
        <p:nvSpPr>
          <p:cNvPr id="18" name="Shape 16"/>
          <p:cNvSpPr/>
          <p:nvPr/>
        </p:nvSpPr>
        <p:spPr>
          <a:xfrm>
            <a:off x="9102852" y="1737360"/>
            <a:ext cx="256032" cy="0"/>
          </a:xfrm>
          <a:prstGeom prst="line">
            <a:avLst/>
          </a:prstGeom>
          <a:noFill/>
          <a:ln w="63500">
            <a:solidFill>
              <a:srgbClr val="3FA66B"/>
            </a:solidFill>
            <a:prstDash val="solid"/>
          </a:ln>
        </p:spPr>
      </p:sp>
      <p:sp>
        <p:nvSpPr>
          <p:cNvPr id="19" name="Shape 17"/>
          <p:cNvSpPr/>
          <p:nvPr/>
        </p:nvSpPr>
        <p:spPr>
          <a:xfrm>
            <a:off x="9986162" y="1737360"/>
            <a:ext cx="256032" cy="0"/>
          </a:xfrm>
          <a:prstGeom prst="line">
            <a:avLst/>
          </a:prstGeom>
          <a:noFill/>
          <a:ln w="63500">
            <a:solidFill>
              <a:srgbClr val="3FA66B"/>
            </a:solidFill>
            <a:prstDash val="solid"/>
          </a:ln>
        </p:spPr>
      </p:sp>
      <p:sp>
        <p:nvSpPr>
          <p:cNvPr id="20" name="Shape 18"/>
          <p:cNvSpPr/>
          <p:nvPr/>
        </p:nvSpPr>
        <p:spPr>
          <a:xfrm>
            <a:off x="9544507" y="4114800"/>
            <a:ext cx="256032" cy="0"/>
          </a:xfrm>
          <a:prstGeom prst="line">
            <a:avLst/>
          </a:prstGeom>
          <a:noFill/>
          <a:ln w="63500">
            <a:solidFill>
              <a:srgbClr val="3FA66B"/>
            </a:solidFill>
            <a:prstDash val="solid"/>
          </a:ln>
        </p:spPr>
      </p:sp>
      <p:sp>
        <p:nvSpPr>
          <p:cNvPr id="21" name="Shape 19"/>
          <p:cNvSpPr/>
          <p:nvPr/>
        </p:nvSpPr>
        <p:spPr>
          <a:xfrm>
            <a:off x="11521440" y="2735885"/>
            <a:ext cx="0" cy="380390"/>
          </a:xfrm>
          <a:prstGeom prst="line">
            <a:avLst/>
          </a:prstGeom>
          <a:noFill/>
          <a:ln w="63500">
            <a:solidFill>
              <a:srgbClr val="3FA66B"/>
            </a:solidFill>
            <a:prstDash val="solid"/>
          </a:ln>
        </p:spPr>
      </p:sp>
      <p:sp>
        <p:nvSpPr>
          <p:cNvPr id="22" name="Text 20"/>
          <p:cNvSpPr txBox="1"/>
          <p:nvPr/>
        </p:nvSpPr>
        <p:spPr>
          <a:xfrm>
            <a:off x="7223760" y="4279392"/>
            <a:ext cx="4389120" cy="365760"/>
          </a:xfrm>
          <a:prstGeom prst="rect">
            <a:avLst/>
          </a:prstGeom>
          <a:noFill/>
          <a:ln/>
        </p:spPr>
        <p:txBody>
          <a:bodyPr wrap="square" lIns="0" tIns="0" rIns="0" bIns="0" rtlCol="0" anchor="ctr"/>
          <a:lstStyle/>
          <a:p>
            <a:pPr marL="0" indent="0" algn="ctr">
              <a:buNone/>
            </a:pPr>
            <a:r>
              <a:rPr lang="en-US" sz="1050" i="1" dirty="0">
                <a:solidFill>
                  <a:srgbClr val="5B6178"/>
                </a:solidFill>
                <a:latin typeface="Calibri" pitchFamily="34" charset="0"/>
                <a:ea typeface="Calibri" pitchFamily="34" charset="-122"/>
                <a:cs typeface="Calibri" pitchFamily="34" charset="-120"/>
              </a:rPr>
              <a:t>Front wall (stage) — the other 3 walls share 4 doors between them</a:t>
            </a:r>
            <a:endParaRPr lang="en-US" sz="1050" dirty="0"/>
          </a:p>
        </p:txBody>
      </p:sp>
      <p:sp>
        <p:nvSpPr>
          <p:cNvPr id="23" name="Shape 21"/>
          <p:cNvSpPr/>
          <p:nvPr/>
        </p:nvSpPr>
        <p:spPr>
          <a:xfrm>
            <a:off x="7315200" y="4892040"/>
            <a:ext cx="4206240" cy="1371600"/>
          </a:xfrm>
          <a:prstGeom prst="roundRect">
            <a:avLst>
              <a:gd name="adj" fmla="val 5333"/>
            </a:avLst>
          </a:prstGeom>
          <a:solidFill>
            <a:srgbClr val="1E2761"/>
          </a:solidFill>
          <a:ln/>
        </p:spPr>
      </p:sp>
      <p:sp>
        <p:nvSpPr>
          <p:cNvPr id="24" name="Text 22"/>
          <p:cNvSpPr txBox="1"/>
          <p:nvPr/>
        </p:nvSpPr>
        <p:spPr>
          <a:xfrm>
            <a:off x="7543800" y="5010912"/>
            <a:ext cx="3749040" cy="292608"/>
          </a:xfrm>
          <a:prstGeom prst="rect">
            <a:avLst/>
          </a:prstGeom>
          <a:noFill/>
          <a:ln/>
        </p:spPr>
        <p:txBody>
          <a:bodyPr wrap="square" lIns="0" tIns="0" rIns="0" bIns="0" rtlCol="0" anchor="ctr"/>
          <a:lstStyle/>
          <a:p>
            <a:pPr marL="0" indent="0">
              <a:buNone/>
            </a:pPr>
            <a:r>
              <a:rPr lang="en-US" sz="1300" b="1" dirty="0">
                <a:solidFill>
                  <a:srgbClr val="E3A857"/>
                </a:solidFill>
                <a:latin typeface="Calibri" pitchFamily="34" charset="0"/>
                <a:ea typeface="Calibri" pitchFamily="34" charset="-122"/>
                <a:cs typeface="Calibri" pitchFamily="34" charset="-120"/>
              </a:rPr>
              <a:t>Door capacity model</a:t>
            </a:r>
            <a:endParaRPr lang="en-US" sz="1300" dirty="0"/>
          </a:p>
        </p:txBody>
      </p:sp>
      <p:sp>
        <p:nvSpPr>
          <p:cNvPr id="25" name="Text 23"/>
          <p:cNvSpPr txBox="1"/>
          <p:nvPr/>
        </p:nvSpPr>
        <p:spPr>
          <a:xfrm>
            <a:off x="7543800" y="5321808"/>
            <a:ext cx="3749040" cy="8686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At most 5 people / metre of door / second can pass through an open door, so N_open × D × 5 people/s can leave — giving a theoretical minimum evacuation time to compare against the simulation.</a:t>
            </a:r>
            <a:endParaRPr lang="en-US" sz="1050" dirty="0"/>
          </a:p>
        </p:txBody>
      </p:sp>
      <p:sp>
        <p:nvSpPr>
          <p:cNvPr id="26" name="Text 24"/>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27" name="Text 25"/>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02  ·  THEORY &amp; MODELING APPROACH</a:t>
            </a:r>
            <a:endParaRPr lang="en-US" sz="1300" dirty="0"/>
          </a:p>
        </p:txBody>
      </p:sp>
      <p:sp>
        <p:nvSpPr>
          <p:cNvPr id="3" name="Text 1"/>
          <p:cNvSpPr txBox="1"/>
          <p:nvPr/>
        </p:nvSpPr>
        <p:spPr>
          <a:xfrm>
            <a:off x="548640" y="713232"/>
            <a:ext cx="105156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A macroscopic (density-based) crowd model</a:t>
            </a:r>
            <a:endParaRPr lang="en-US" sz="2600" dirty="0"/>
          </a:p>
        </p:txBody>
      </p:sp>
      <p:sp>
        <p:nvSpPr>
          <p:cNvPr id="4" name="Shape 2"/>
          <p:cNvSpPr/>
          <p:nvPr/>
        </p:nvSpPr>
        <p:spPr>
          <a:xfrm>
            <a:off x="548640" y="1691640"/>
            <a:ext cx="5166360" cy="1353312"/>
          </a:xfrm>
          <a:prstGeom prst="roundRect">
            <a:avLst>
              <a:gd name="adj" fmla="val 4730"/>
            </a:avLst>
          </a:prstGeom>
          <a:solidFill>
            <a:srgbClr val="F3F5FC"/>
          </a:solidFill>
          <a:ln/>
        </p:spPr>
      </p:sp>
      <p:sp>
        <p:nvSpPr>
          <p:cNvPr id="5" name="Shape 3"/>
          <p:cNvSpPr/>
          <p:nvPr/>
        </p:nvSpPr>
        <p:spPr>
          <a:xfrm>
            <a:off x="749808" y="1892808"/>
            <a:ext cx="329184" cy="329184"/>
          </a:xfrm>
          <a:prstGeom prst="roundRect">
            <a:avLst>
              <a:gd name="adj" fmla="val 19444"/>
            </a:avLst>
          </a:prstGeom>
          <a:solidFill>
            <a:srgbClr val="1E2761"/>
          </a:solidFill>
          <a:ln/>
        </p:spPr>
      </p:sp>
      <p:sp>
        <p:nvSpPr>
          <p:cNvPr id="6" name="Text 4"/>
          <p:cNvSpPr txBox="1"/>
          <p:nvPr/>
        </p:nvSpPr>
        <p:spPr>
          <a:xfrm>
            <a:off x="749808" y="1892808"/>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34440" y="1837944"/>
            <a:ext cx="4270248"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Crowd as a fluid</a:t>
            </a:r>
            <a:endParaRPr lang="en-US" sz="1350" dirty="0"/>
          </a:p>
        </p:txBody>
      </p:sp>
      <p:sp>
        <p:nvSpPr>
          <p:cNvPr id="8" name="Text 6"/>
          <p:cNvSpPr txBox="1"/>
          <p:nvPr/>
        </p:nvSpPr>
        <p:spPr>
          <a:xfrm>
            <a:off x="1234440" y="2258568"/>
            <a:ext cx="4270248" cy="640080"/>
          </a:xfrm>
          <a:prstGeom prst="rect">
            <a:avLst/>
          </a:prstGeom>
          <a:noFill/>
          <a:ln/>
        </p:spPr>
        <p:txBody>
          <a:bodyPr wrap="square" lIns="0" tIns="0" rIns="0" bIns="0" rtlCol="0" anchor="ctr"/>
          <a:lstStyle/>
          <a:p>
            <a:pPr marL="0" indent="0">
              <a:lnSpc>
                <a:spcPct val="118000"/>
              </a:lnSpc>
              <a:buNone/>
            </a:pPr>
            <a:r>
              <a:rPr lang="en-US" sz="1150" dirty="0">
                <a:solidFill>
                  <a:srgbClr val="1B1F2A"/>
                </a:solidFill>
                <a:latin typeface="Calibri" pitchFamily="34" charset="0"/>
                <a:ea typeface="Calibri" pitchFamily="34" charset="-122"/>
                <a:cs typeface="Calibri" pitchFamily="34" charset="-120"/>
              </a:rPr>
              <a:t>The crowd is treated as a continuum: a density field ρ(x,y,t) (people/m²) instead of tracking individual people. Motion obeys a conservation law, ∂ρ/∂t + ∇·(ρ v) = 0.</a:t>
            </a:r>
            <a:endParaRPr lang="en-US" sz="1150" dirty="0"/>
          </a:p>
        </p:txBody>
      </p:sp>
      <p:sp>
        <p:nvSpPr>
          <p:cNvPr id="9" name="Shape 7"/>
          <p:cNvSpPr/>
          <p:nvPr/>
        </p:nvSpPr>
        <p:spPr>
          <a:xfrm>
            <a:off x="6172200" y="1691640"/>
            <a:ext cx="5166360" cy="1353312"/>
          </a:xfrm>
          <a:prstGeom prst="roundRect">
            <a:avLst>
              <a:gd name="adj" fmla="val 4730"/>
            </a:avLst>
          </a:prstGeom>
          <a:solidFill>
            <a:srgbClr val="F3F5FC"/>
          </a:solidFill>
          <a:ln/>
        </p:spPr>
      </p:sp>
      <p:sp>
        <p:nvSpPr>
          <p:cNvPr id="10" name="Shape 8"/>
          <p:cNvSpPr/>
          <p:nvPr/>
        </p:nvSpPr>
        <p:spPr>
          <a:xfrm>
            <a:off x="6373368" y="1892808"/>
            <a:ext cx="329184" cy="329184"/>
          </a:xfrm>
          <a:prstGeom prst="roundRect">
            <a:avLst>
              <a:gd name="adj" fmla="val 19444"/>
            </a:avLst>
          </a:prstGeom>
          <a:solidFill>
            <a:srgbClr val="1E2761"/>
          </a:solidFill>
          <a:ln/>
        </p:spPr>
      </p:sp>
      <p:sp>
        <p:nvSpPr>
          <p:cNvPr id="11" name="Text 9"/>
          <p:cNvSpPr txBox="1"/>
          <p:nvPr/>
        </p:nvSpPr>
        <p:spPr>
          <a:xfrm>
            <a:off x="6373368" y="1892808"/>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858000" y="1837944"/>
            <a:ext cx="4270248"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Speed – density relation</a:t>
            </a:r>
            <a:endParaRPr lang="en-US" sz="1350" dirty="0"/>
          </a:p>
        </p:txBody>
      </p:sp>
      <p:sp>
        <p:nvSpPr>
          <p:cNvPr id="13" name="Text 11"/>
          <p:cNvSpPr txBox="1"/>
          <p:nvPr/>
        </p:nvSpPr>
        <p:spPr>
          <a:xfrm>
            <a:off x="6858000" y="2258568"/>
            <a:ext cx="4270248" cy="640080"/>
          </a:xfrm>
          <a:prstGeom prst="rect">
            <a:avLst/>
          </a:prstGeom>
          <a:noFill/>
          <a:ln/>
        </p:spPr>
        <p:txBody>
          <a:bodyPr wrap="square" lIns="0" tIns="0" rIns="0" bIns="0" rtlCol="0" anchor="ctr"/>
          <a:lstStyle/>
          <a:p>
            <a:pPr marL="0" indent="0">
              <a:lnSpc>
                <a:spcPct val="118000"/>
              </a:lnSpc>
              <a:buNone/>
            </a:pPr>
            <a:r>
              <a:rPr lang="en-US" sz="1150" dirty="0">
                <a:solidFill>
                  <a:srgbClr val="1B1F2A"/>
                </a:solidFill>
                <a:latin typeface="Calibri" pitchFamily="34" charset="0"/>
                <a:ea typeface="Calibri" pitchFamily="34" charset="-122"/>
                <a:cs typeface="Calibri" pitchFamily="34" charset="-120"/>
              </a:rPr>
              <a:t>Desired walking speed falls as density rises: v(ρ) = 2(1 − ρ/10), reaching zero at the jam density ρ = 10 people/m².</a:t>
            </a:r>
            <a:endParaRPr lang="en-US" sz="1150" dirty="0"/>
          </a:p>
        </p:txBody>
      </p:sp>
      <p:sp>
        <p:nvSpPr>
          <p:cNvPr id="14" name="Shape 12"/>
          <p:cNvSpPr/>
          <p:nvPr/>
        </p:nvSpPr>
        <p:spPr>
          <a:xfrm>
            <a:off x="548640" y="3300984"/>
            <a:ext cx="5166360" cy="1353312"/>
          </a:xfrm>
          <a:prstGeom prst="roundRect">
            <a:avLst>
              <a:gd name="adj" fmla="val 4730"/>
            </a:avLst>
          </a:prstGeom>
          <a:solidFill>
            <a:srgbClr val="F3F5FC"/>
          </a:solidFill>
          <a:ln/>
        </p:spPr>
      </p:sp>
      <p:sp>
        <p:nvSpPr>
          <p:cNvPr id="15" name="Shape 13"/>
          <p:cNvSpPr/>
          <p:nvPr/>
        </p:nvSpPr>
        <p:spPr>
          <a:xfrm>
            <a:off x="749808" y="3502152"/>
            <a:ext cx="329184" cy="329184"/>
          </a:xfrm>
          <a:prstGeom prst="roundRect">
            <a:avLst>
              <a:gd name="adj" fmla="val 19444"/>
            </a:avLst>
          </a:prstGeom>
          <a:solidFill>
            <a:srgbClr val="1E2761"/>
          </a:solidFill>
          <a:ln/>
        </p:spPr>
      </p:sp>
      <p:sp>
        <p:nvSpPr>
          <p:cNvPr id="16" name="Text 14"/>
          <p:cNvSpPr txBox="1"/>
          <p:nvPr/>
        </p:nvSpPr>
        <p:spPr>
          <a:xfrm>
            <a:off x="749808" y="350215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34440" y="3447288"/>
            <a:ext cx="4270248"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Shortest-time path (eikonal equation)</a:t>
            </a:r>
            <a:endParaRPr lang="en-US" sz="1350" dirty="0"/>
          </a:p>
        </p:txBody>
      </p:sp>
      <p:sp>
        <p:nvSpPr>
          <p:cNvPr id="18" name="Text 16"/>
          <p:cNvSpPr txBox="1"/>
          <p:nvPr/>
        </p:nvSpPr>
        <p:spPr>
          <a:xfrm>
            <a:off x="1234440" y="3867912"/>
            <a:ext cx="4270248" cy="640080"/>
          </a:xfrm>
          <a:prstGeom prst="rect">
            <a:avLst/>
          </a:prstGeom>
          <a:noFill/>
          <a:ln/>
        </p:spPr>
        <p:txBody>
          <a:bodyPr wrap="square" lIns="0" tIns="0" rIns="0" bIns="0" rtlCol="0" anchor="ctr"/>
          <a:lstStyle/>
          <a:p>
            <a:pPr marL="0" indent="0">
              <a:lnSpc>
                <a:spcPct val="118000"/>
              </a:lnSpc>
              <a:buNone/>
            </a:pPr>
            <a:r>
              <a:rPr lang="en-US" sz="1150" dirty="0">
                <a:solidFill>
                  <a:srgbClr val="1B1F2A"/>
                </a:solidFill>
                <a:latin typeface="Calibri" pitchFamily="34" charset="0"/>
                <a:ea typeface="Calibri" pitchFamily="34" charset="-122"/>
                <a:cs typeface="Calibri" pitchFamily="34" charset="-120"/>
              </a:rPr>
              <a:t>A travel-cost potential φ to the nearest open door is found by solving |∇φ| = cost, where cost = 1/speed + a discomfort penalty for crowding.</a:t>
            </a:r>
            <a:endParaRPr lang="en-US" sz="1150" dirty="0"/>
          </a:p>
        </p:txBody>
      </p:sp>
      <p:sp>
        <p:nvSpPr>
          <p:cNvPr id="19" name="Shape 17"/>
          <p:cNvSpPr/>
          <p:nvPr/>
        </p:nvSpPr>
        <p:spPr>
          <a:xfrm>
            <a:off x="6172200" y="3300984"/>
            <a:ext cx="5166360" cy="1353312"/>
          </a:xfrm>
          <a:prstGeom prst="roundRect">
            <a:avLst>
              <a:gd name="adj" fmla="val 4730"/>
            </a:avLst>
          </a:prstGeom>
          <a:solidFill>
            <a:srgbClr val="F3F5FC"/>
          </a:solidFill>
          <a:ln/>
        </p:spPr>
      </p:sp>
      <p:sp>
        <p:nvSpPr>
          <p:cNvPr id="20" name="Shape 18"/>
          <p:cNvSpPr/>
          <p:nvPr/>
        </p:nvSpPr>
        <p:spPr>
          <a:xfrm>
            <a:off x="6373368" y="3502152"/>
            <a:ext cx="329184" cy="329184"/>
          </a:xfrm>
          <a:prstGeom prst="roundRect">
            <a:avLst>
              <a:gd name="adj" fmla="val 19444"/>
            </a:avLst>
          </a:prstGeom>
          <a:solidFill>
            <a:srgbClr val="1E2761"/>
          </a:solidFill>
          <a:ln/>
        </p:spPr>
      </p:sp>
      <p:sp>
        <p:nvSpPr>
          <p:cNvPr id="21" name="Text 19"/>
          <p:cNvSpPr txBox="1"/>
          <p:nvPr/>
        </p:nvSpPr>
        <p:spPr>
          <a:xfrm>
            <a:off x="6373368" y="350215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858000" y="3447288"/>
            <a:ext cx="4270248"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WENO fast sweeping</a:t>
            </a:r>
            <a:endParaRPr lang="en-US" sz="1350" dirty="0"/>
          </a:p>
        </p:txBody>
      </p:sp>
      <p:sp>
        <p:nvSpPr>
          <p:cNvPr id="23" name="Text 21"/>
          <p:cNvSpPr txBox="1"/>
          <p:nvPr/>
        </p:nvSpPr>
        <p:spPr>
          <a:xfrm>
            <a:off x="6858000" y="3867912"/>
            <a:ext cx="4270248" cy="640080"/>
          </a:xfrm>
          <a:prstGeom prst="rect">
            <a:avLst/>
          </a:prstGeom>
          <a:noFill/>
          <a:ln/>
        </p:spPr>
        <p:txBody>
          <a:bodyPr wrap="square" lIns="0" tIns="0" rIns="0" bIns="0" rtlCol="0" anchor="ctr"/>
          <a:lstStyle/>
          <a:p>
            <a:pPr marL="0" indent="0">
              <a:lnSpc>
                <a:spcPct val="118000"/>
              </a:lnSpc>
              <a:buNone/>
            </a:pPr>
            <a:r>
              <a:rPr lang="en-US" sz="1150" dirty="0">
                <a:solidFill>
                  <a:srgbClr val="1B1F2A"/>
                </a:solidFill>
                <a:latin typeface="Calibri" pitchFamily="34" charset="0"/>
                <a:ea typeface="Calibri" pitchFamily="34" charset="-122"/>
                <a:cs typeface="Calibri" pitchFamily="34" charset="-120"/>
              </a:rPr>
              <a:t>φ is solved with a 3rd-order WENO fast-sweeping scheme (4-direction sweeps, iterated to a tolerance), giving smooth, accurate walking directions v = −speed·∇φ/|∇φ|.</a:t>
            </a:r>
            <a:endParaRPr lang="en-US" sz="1150" dirty="0"/>
          </a:p>
        </p:txBody>
      </p:sp>
      <p:sp>
        <p:nvSpPr>
          <p:cNvPr id="24" name="Shape 22"/>
          <p:cNvSpPr/>
          <p:nvPr/>
        </p:nvSpPr>
        <p:spPr>
          <a:xfrm>
            <a:off x="548640" y="4910328"/>
            <a:ext cx="10789920" cy="1353312"/>
          </a:xfrm>
          <a:prstGeom prst="roundRect">
            <a:avLst>
              <a:gd name="adj" fmla="val 4730"/>
            </a:avLst>
          </a:prstGeom>
          <a:solidFill>
            <a:srgbClr val="F3F5FC"/>
          </a:solidFill>
          <a:ln/>
        </p:spPr>
      </p:sp>
      <p:sp>
        <p:nvSpPr>
          <p:cNvPr id="25" name="Shape 23"/>
          <p:cNvSpPr/>
          <p:nvPr/>
        </p:nvSpPr>
        <p:spPr>
          <a:xfrm>
            <a:off x="749808" y="5111496"/>
            <a:ext cx="329184" cy="329184"/>
          </a:xfrm>
          <a:prstGeom prst="roundRect">
            <a:avLst>
              <a:gd name="adj" fmla="val 19444"/>
            </a:avLst>
          </a:prstGeom>
          <a:solidFill>
            <a:srgbClr val="1E2761"/>
          </a:solidFill>
          <a:ln/>
        </p:spPr>
      </p:sp>
      <p:sp>
        <p:nvSpPr>
          <p:cNvPr id="26" name="Text 24"/>
          <p:cNvSpPr txBox="1"/>
          <p:nvPr/>
        </p:nvSpPr>
        <p:spPr>
          <a:xfrm>
            <a:off x="749808" y="51114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234440" y="5056632"/>
            <a:ext cx="9893808"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Capacity-limited doors</a:t>
            </a:r>
            <a:endParaRPr lang="en-US" sz="1350" dirty="0"/>
          </a:p>
        </p:txBody>
      </p:sp>
      <p:sp>
        <p:nvSpPr>
          <p:cNvPr id="28" name="Text 26"/>
          <p:cNvSpPr txBox="1"/>
          <p:nvPr/>
        </p:nvSpPr>
        <p:spPr>
          <a:xfrm>
            <a:off x="1234440" y="5477256"/>
            <a:ext cx="9893808" cy="640080"/>
          </a:xfrm>
          <a:prstGeom prst="rect">
            <a:avLst/>
          </a:prstGeom>
          <a:noFill/>
          <a:ln/>
        </p:spPr>
        <p:txBody>
          <a:bodyPr wrap="square" lIns="0" tIns="0" rIns="0" bIns="0" rtlCol="0" anchor="ctr"/>
          <a:lstStyle/>
          <a:p>
            <a:pPr marL="0" indent="0">
              <a:lnSpc>
                <a:spcPct val="118000"/>
              </a:lnSpc>
              <a:buNone/>
            </a:pPr>
            <a:r>
              <a:rPr lang="en-US" sz="1150" dirty="0">
                <a:solidFill>
                  <a:srgbClr val="1B1F2A"/>
                </a:solidFill>
                <a:latin typeface="Calibri" pitchFamily="34" charset="0"/>
                <a:ea typeface="Calibri" pitchFamily="34" charset="-122"/>
                <a:cs typeface="Calibri" pitchFamily="34" charset="-120"/>
              </a:rPr>
              <a:t>Outflow at each open door is capped by a demand-flux function free flow up to a critical density, then a fixed maximum, so doors realistically “queue” instead of discharging an infinite flow.</a:t>
            </a:r>
            <a:endParaRPr lang="en-US" sz="1150" dirty="0"/>
          </a:p>
        </p:txBody>
      </p:sp>
      <p:sp>
        <p:nvSpPr>
          <p:cNvPr id="29" name="Text 2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30" name="Text 28"/>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03  ·  SIMULATION SETUP</a:t>
            </a:r>
            <a:endParaRPr lang="en-US" sz="1300" dirty="0"/>
          </a:p>
        </p:txBody>
      </p:sp>
      <p:sp>
        <p:nvSpPr>
          <p:cNvPr id="3" name="Text 1"/>
          <p:cNvSpPr txBox="1"/>
          <p:nvPr/>
        </p:nvSpPr>
        <p:spPr>
          <a:xfrm>
            <a:off x="548640" y="713232"/>
            <a:ext cx="100584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Room and door configuration</a:t>
            </a:r>
            <a:endParaRPr lang="en-US" sz="2600" dirty="0"/>
          </a:p>
        </p:txBody>
      </p:sp>
      <p:sp>
        <p:nvSpPr>
          <p:cNvPr id="4" name="Shape 2"/>
          <p:cNvSpPr/>
          <p:nvPr/>
        </p:nvSpPr>
        <p:spPr>
          <a:xfrm>
            <a:off x="822960" y="1965960"/>
            <a:ext cx="7863840" cy="3291840"/>
          </a:xfrm>
          <a:prstGeom prst="rect">
            <a:avLst/>
          </a:prstGeom>
          <a:solidFill>
            <a:srgbClr val="F3F5FC"/>
          </a:solidFill>
          <a:ln w="25400">
            <a:solidFill>
              <a:srgbClr val="1E2761"/>
            </a:solidFill>
            <a:prstDash val="solid"/>
          </a:ln>
        </p:spPr>
      </p:sp>
      <p:sp>
        <p:nvSpPr>
          <p:cNvPr id="5" name="Shape 3"/>
          <p:cNvSpPr/>
          <p:nvPr/>
        </p:nvSpPr>
        <p:spPr>
          <a:xfrm>
            <a:off x="822960" y="1965960"/>
            <a:ext cx="873760" cy="3291840"/>
          </a:xfrm>
          <a:prstGeom prst="rect">
            <a:avLst/>
          </a:prstGeom>
          <a:solidFill>
            <a:srgbClr val="1E2761"/>
          </a:solidFill>
          <a:ln/>
        </p:spPr>
      </p:sp>
      <p:sp>
        <p:nvSpPr>
          <p:cNvPr id="6" name="Text 4"/>
          <p:cNvSpPr txBox="1"/>
          <p:nvPr/>
        </p:nvSpPr>
        <p:spPr>
          <a:xfrm>
            <a:off x="365760" y="3447288"/>
            <a:ext cx="17881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STAGE</a:t>
            </a:r>
            <a:endParaRPr lang="en-US" sz="1200" dirty="0"/>
          </a:p>
        </p:txBody>
      </p:sp>
      <p:sp>
        <p:nvSpPr>
          <p:cNvPr id="7" name="Shape 5"/>
          <p:cNvSpPr/>
          <p:nvPr/>
        </p:nvSpPr>
        <p:spPr>
          <a:xfrm>
            <a:off x="3012440" y="1965960"/>
            <a:ext cx="164592" cy="0"/>
          </a:xfrm>
          <a:prstGeom prst="line">
            <a:avLst/>
          </a:prstGeom>
          <a:noFill/>
          <a:ln w="76200">
            <a:solidFill>
              <a:srgbClr val="3FA66B"/>
            </a:solidFill>
            <a:prstDash val="solid"/>
          </a:ln>
        </p:spPr>
      </p:sp>
      <p:sp>
        <p:nvSpPr>
          <p:cNvPr id="8" name="Text 6"/>
          <p:cNvSpPr txBox="1"/>
          <p:nvPr/>
        </p:nvSpPr>
        <p:spPr>
          <a:xfrm>
            <a:off x="2866136" y="1673352"/>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D1</a:t>
            </a:r>
            <a:endParaRPr lang="en-US" sz="950" dirty="0"/>
          </a:p>
        </p:txBody>
      </p:sp>
      <p:sp>
        <p:nvSpPr>
          <p:cNvPr id="9" name="Shape 7"/>
          <p:cNvSpPr/>
          <p:nvPr/>
        </p:nvSpPr>
        <p:spPr>
          <a:xfrm>
            <a:off x="4410456" y="1965960"/>
            <a:ext cx="164592" cy="0"/>
          </a:xfrm>
          <a:prstGeom prst="line">
            <a:avLst/>
          </a:prstGeom>
          <a:noFill/>
          <a:ln w="76200">
            <a:solidFill>
              <a:srgbClr val="3FA66B"/>
            </a:solidFill>
            <a:prstDash val="solid"/>
          </a:ln>
        </p:spPr>
      </p:sp>
      <p:sp>
        <p:nvSpPr>
          <p:cNvPr id="10" name="Text 8"/>
          <p:cNvSpPr txBox="1"/>
          <p:nvPr/>
        </p:nvSpPr>
        <p:spPr>
          <a:xfrm>
            <a:off x="4264152" y="1673352"/>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D2</a:t>
            </a:r>
            <a:endParaRPr lang="en-US" sz="950" dirty="0"/>
          </a:p>
        </p:txBody>
      </p:sp>
      <p:sp>
        <p:nvSpPr>
          <p:cNvPr id="11" name="Shape 9"/>
          <p:cNvSpPr/>
          <p:nvPr/>
        </p:nvSpPr>
        <p:spPr>
          <a:xfrm>
            <a:off x="5808472" y="1965960"/>
            <a:ext cx="164592" cy="0"/>
          </a:xfrm>
          <a:prstGeom prst="line">
            <a:avLst/>
          </a:prstGeom>
          <a:noFill/>
          <a:ln w="76200">
            <a:solidFill>
              <a:srgbClr val="3FA66B"/>
            </a:solidFill>
            <a:prstDash val="solid"/>
          </a:ln>
        </p:spPr>
      </p:sp>
      <p:sp>
        <p:nvSpPr>
          <p:cNvPr id="12" name="Text 10"/>
          <p:cNvSpPr txBox="1"/>
          <p:nvPr/>
        </p:nvSpPr>
        <p:spPr>
          <a:xfrm>
            <a:off x="5662168" y="1673352"/>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D3</a:t>
            </a:r>
            <a:endParaRPr lang="en-US" sz="950" dirty="0"/>
          </a:p>
        </p:txBody>
      </p:sp>
      <p:sp>
        <p:nvSpPr>
          <p:cNvPr id="13" name="Shape 11"/>
          <p:cNvSpPr/>
          <p:nvPr/>
        </p:nvSpPr>
        <p:spPr>
          <a:xfrm>
            <a:off x="7206488" y="1965960"/>
            <a:ext cx="164592" cy="0"/>
          </a:xfrm>
          <a:prstGeom prst="line">
            <a:avLst/>
          </a:prstGeom>
          <a:noFill/>
          <a:ln w="76200">
            <a:solidFill>
              <a:srgbClr val="3FA66B"/>
            </a:solidFill>
            <a:prstDash val="solid"/>
          </a:ln>
        </p:spPr>
      </p:sp>
      <p:sp>
        <p:nvSpPr>
          <p:cNvPr id="14" name="Text 12"/>
          <p:cNvSpPr txBox="1"/>
          <p:nvPr/>
        </p:nvSpPr>
        <p:spPr>
          <a:xfrm>
            <a:off x="7060184" y="1673352"/>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D4</a:t>
            </a:r>
            <a:endParaRPr lang="en-US" sz="950" dirty="0"/>
          </a:p>
        </p:txBody>
      </p:sp>
      <p:sp>
        <p:nvSpPr>
          <p:cNvPr id="15" name="Shape 13"/>
          <p:cNvSpPr/>
          <p:nvPr/>
        </p:nvSpPr>
        <p:spPr>
          <a:xfrm>
            <a:off x="3012440" y="5257800"/>
            <a:ext cx="164592" cy="0"/>
          </a:xfrm>
          <a:prstGeom prst="line">
            <a:avLst/>
          </a:prstGeom>
          <a:noFill/>
          <a:ln w="76200">
            <a:solidFill>
              <a:srgbClr val="3FA66B"/>
            </a:solidFill>
            <a:prstDash val="solid"/>
          </a:ln>
        </p:spPr>
      </p:sp>
      <p:sp>
        <p:nvSpPr>
          <p:cNvPr id="16" name="Text 14"/>
          <p:cNvSpPr txBox="1"/>
          <p:nvPr/>
        </p:nvSpPr>
        <p:spPr>
          <a:xfrm>
            <a:off x="2866136" y="5312664"/>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D5</a:t>
            </a:r>
            <a:endParaRPr lang="en-US" sz="950" dirty="0"/>
          </a:p>
        </p:txBody>
      </p:sp>
      <p:sp>
        <p:nvSpPr>
          <p:cNvPr id="17" name="Shape 15"/>
          <p:cNvSpPr/>
          <p:nvPr/>
        </p:nvSpPr>
        <p:spPr>
          <a:xfrm>
            <a:off x="4410456" y="5257800"/>
            <a:ext cx="164592" cy="0"/>
          </a:xfrm>
          <a:prstGeom prst="line">
            <a:avLst/>
          </a:prstGeom>
          <a:noFill/>
          <a:ln w="76200">
            <a:solidFill>
              <a:srgbClr val="3FA66B"/>
            </a:solidFill>
            <a:prstDash val="solid"/>
          </a:ln>
        </p:spPr>
      </p:sp>
      <p:sp>
        <p:nvSpPr>
          <p:cNvPr id="18" name="Text 16"/>
          <p:cNvSpPr txBox="1"/>
          <p:nvPr/>
        </p:nvSpPr>
        <p:spPr>
          <a:xfrm>
            <a:off x="4264152" y="5312664"/>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D6</a:t>
            </a:r>
            <a:endParaRPr lang="en-US" sz="950" dirty="0"/>
          </a:p>
        </p:txBody>
      </p:sp>
      <p:sp>
        <p:nvSpPr>
          <p:cNvPr id="19" name="Shape 17"/>
          <p:cNvSpPr/>
          <p:nvPr/>
        </p:nvSpPr>
        <p:spPr>
          <a:xfrm>
            <a:off x="5808472" y="5257800"/>
            <a:ext cx="164592" cy="0"/>
          </a:xfrm>
          <a:prstGeom prst="line">
            <a:avLst/>
          </a:prstGeom>
          <a:noFill/>
          <a:ln w="76200">
            <a:solidFill>
              <a:srgbClr val="3FA66B"/>
            </a:solidFill>
            <a:prstDash val="solid"/>
          </a:ln>
        </p:spPr>
      </p:sp>
      <p:sp>
        <p:nvSpPr>
          <p:cNvPr id="20" name="Text 18"/>
          <p:cNvSpPr txBox="1"/>
          <p:nvPr/>
        </p:nvSpPr>
        <p:spPr>
          <a:xfrm>
            <a:off x="5662168" y="5312664"/>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D7</a:t>
            </a:r>
            <a:endParaRPr lang="en-US" sz="950" dirty="0"/>
          </a:p>
        </p:txBody>
      </p:sp>
      <p:sp>
        <p:nvSpPr>
          <p:cNvPr id="21" name="Shape 19"/>
          <p:cNvSpPr/>
          <p:nvPr/>
        </p:nvSpPr>
        <p:spPr>
          <a:xfrm>
            <a:off x="7206488" y="5257800"/>
            <a:ext cx="164592" cy="0"/>
          </a:xfrm>
          <a:prstGeom prst="line">
            <a:avLst/>
          </a:prstGeom>
          <a:noFill/>
          <a:ln w="76200">
            <a:solidFill>
              <a:srgbClr val="3FA66B"/>
            </a:solidFill>
            <a:prstDash val="solid"/>
          </a:ln>
        </p:spPr>
      </p:sp>
      <p:sp>
        <p:nvSpPr>
          <p:cNvPr id="22" name="Text 20"/>
          <p:cNvSpPr txBox="1"/>
          <p:nvPr/>
        </p:nvSpPr>
        <p:spPr>
          <a:xfrm>
            <a:off x="7060184" y="5312664"/>
            <a:ext cx="457200" cy="256032"/>
          </a:xfrm>
          <a:prstGeom prst="rect">
            <a:avLst/>
          </a:prstGeom>
          <a:noFill/>
          <a:ln/>
        </p:spPr>
        <p:txBody>
          <a:bodyPr wrap="square" lIns="0" tIns="0" rIns="0" bIns="0" rtlCol="0" anchor="ctr"/>
          <a:lstStyle/>
          <a:p>
            <a:pPr marL="0" indent="0" algn="ctr">
              <a:buNone/>
            </a:pPr>
            <a:r>
              <a:rPr lang="en-US" sz="950" b="1" dirty="0">
                <a:solidFill>
                  <a:srgbClr val="3FA66B"/>
                </a:solidFill>
                <a:latin typeface="Calibri" pitchFamily="34" charset="0"/>
                <a:ea typeface="Calibri" pitchFamily="34" charset="-122"/>
                <a:cs typeface="Calibri" pitchFamily="34" charset="-120"/>
              </a:rPr>
              <a:t>D8</a:t>
            </a:r>
            <a:endParaRPr lang="en-US" sz="950" dirty="0"/>
          </a:p>
        </p:txBody>
      </p:sp>
      <p:sp>
        <p:nvSpPr>
          <p:cNvPr id="23" name="Shape 21"/>
          <p:cNvSpPr/>
          <p:nvPr/>
        </p:nvSpPr>
        <p:spPr>
          <a:xfrm>
            <a:off x="8686800" y="2980944"/>
            <a:ext cx="0" cy="164592"/>
          </a:xfrm>
          <a:prstGeom prst="line">
            <a:avLst/>
          </a:prstGeom>
          <a:noFill/>
          <a:ln w="76200">
            <a:solidFill>
              <a:srgbClr val="3FA66B"/>
            </a:solidFill>
            <a:prstDash val="solid"/>
          </a:ln>
        </p:spPr>
      </p:sp>
      <p:sp>
        <p:nvSpPr>
          <p:cNvPr id="24" name="Text 22"/>
          <p:cNvSpPr txBox="1"/>
          <p:nvPr/>
        </p:nvSpPr>
        <p:spPr>
          <a:xfrm>
            <a:off x="8759952" y="2935224"/>
            <a:ext cx="457200" cy="256032"/>
          </a:xfrm>
          <a:prstGeom prst="rect">
            <a:avLst/>
          </a:prstGeom>
          <a:noFill/>
          <a:ln/>
        </p:spPr>
        <p:txBody>
          <a:bodyPr wrap="square" lIns="0" tIns="0" rIns="0" bIns="0" rtlCol="0" anchor="ctr"/>
          <a:lstStyle/>
          <a:p>
            <a:pPr marL="0" indent="0" algn="l">
              <a:buNone/>
            </a:pPr>
            <a:r>
              <a:rPr lang="en-US" sz="950" b="1" dirty="0">
                <a:solidFill>
                  <a:srgbClr val="3FA66B"/>
                </a:solidFill>
                <a:latin typeface="Calibri" pitchFamily="34" charset="0"/>
                <a:ea typeface="Calibri" pitchFamily="34" charset="-122"/>
                <a:cs typeface="Calibri" pitchFamily="34" charset="-120"/>
              </a:rPr>
              <a:t>D9</a:t>
            </a:r>
            <a:endParaRPr lang="en-US" sz="950" dirty="0"/>
          </a:p>
        </p:txBody>
      </p:sp>
      <p:sp>
        <p:nvSpPr>
          <p:cNvPr id="25" name="Shape 23"/>
          <p:cNvSpPr/>
          <p:nvPr/>
        </p:nvSpPr>
        <p:spPr>
          <a:xfrm>
            <a:off x="8686800" y="4078224"/>
            <a:ext cx="0" cy="164592"/>
          </a:xfrm>
          <a:prstGeom prst="line">
            <a:avLst/>
          </a:prstGeom>
          <a:noFill/>
          <a:ln w="76200">
            <a:solidFill>
              <a:srgbClr val="3FA66B"/>
            </a:solidFill>
            <a:prstDash val="solid"/>
          </a:ln>
        </p:spPr>
      </p:sp>
      <p:sp>
        <p:nvSpPr>
          <p:cNvPr id="26" name="Text 24"/>
          <p:cNvSpPr txBox="1"/>
          <p:nvPr/>
        </p:nvSpPr>
        <p:spPr>
          <a:xfrm>
            <a:off x="8759952" y="4032504"/>
            <a:ext cx="457200" cy="256032"/>
          </a:xfrm>
          <a:prstGeom prst="rect">
            <a:avLst/>
          </a:prstGeom>
          <a:noFill/>
          <a:ln/>
        </p:spPr>
        <p:txBody>
          <a:bodyPr wrap="square" lIns="0" tIns="0" rIns="0" bIns="0" rtlCol="0" anchor="ctr"/>
          <a:lstStyle/>
          <a:p>
            <a:pPr marL="0" indent="0" algn="l">
              <a:buNone/>
            </a:pPr>
            <a:r>
              <a:rPr lang="en-US" sz="950" b="1" dirty="0">
                <a:solidFill>
                  <a:srgbClr val="3FA66B"/>
                </a:solidFill>
                <a:latin typeface="Calibri" pitchFamily="34" charset="0"/>
                <a:ea typeface="Calibri" pitchFamily="34" charset="-122"/>
                <a:cs typeface="Calibri" pitchFamily="34" charset="-120"/>
              </a:rPr>
              <a:t>D10</a:t>
            </a:r>
            <a:endParaRPr lang="en-US" sz="950" dirty="0"/>
          </a:p>
        </p:txBody>
      </p:sp>
      <p:sp>
        <p:nvSpPr>
          <p:cNvPr id="27" name="Text 25"/>
          <p:cNvSpPr txBox="1"/>
          <p:nvPr/>
        </p:nvSpPr>
        <p:spPr>
          <a:xfrm>
            <a:off x="822960" y="5641848"/>
            <a:ext cx="7863840" cy="274320"/>
          </a:xfrm>
          <a:prstGeom prst="rect">
            <a:avLst/>
          </a:prstGeom>
          <a:noFill/>
          <a:ln/>
        </p:spPr>
        <p:txBody>
          <a:bodyPr wrap="square" lIns="0" tIns="0" rIns="0" bIns="0" rtlCol="0" anchor="ctr"/>
          <a:lstStyle/>
          <a:p>
            <a:pPr marL="0" indent="0" algn="ctr">
              <a:buNone/>
            </a:pPr>
            <a:r>
              <a:rPr lang="en-US" sz="1100" i="1" dirty="0">
                <a:solidFill>
                  <a:srgbClr val="5B6178"/>
                </a:solidFill>
                <a:latin typeface="Calibri" pitchFamily="34" charset="0"/>
                <a:ea typeface="Calibri" pitchFamily="34" charset="-122"/>
                <a:cs typeface="Calibri" pitchFamily="34" charset="-120"/>
              </a:rPr>
              <a:t>L = 90 m</a:t>
            </a:r>
            <a:endParaRPr lang="en-US" sz="1100" dirty="0"/>
          </a:p>
        </p:txBody>
      </p:sp>
      <p:sp>
        <p:nvSpPr>
          <p:cNvPr id="28" name="Text 26"/>
          <p:cNvSpPr txBox="1"/>
          <p:nvPr/>
        </p:nvSpPr>
        <p:spPr>
          <a:xfrm rot="16200000">
            <a:off x="137160" y="1965960"/>
            <a:ext cx="640080" cy="3291840"/>
          </a:xfrm>
          <a:prstGeom prst="rect">
            <a:avLst/>
          </a:prstGeom>
          <a:noFill/>
          <a:ln/>
        </p:spPr>
        <p:txBody>
          <a:bodyPr wrap="square" lIns="0" tIns="0" rIns="0" bIns="0" rtlCol="0" anchor="ctr"/>
          <a:lstStyle/>
          <a:p>
            <a:pPr marL="0" indent="0" algn="ctr">
              <a:buNone/>
            </a:pPr>
            <a:r>
              <a:rPr lang="en-US" sz="1100" i="1" dirty="0">
                <a:solidFill>
                  <a:srgbClr val="5B6178"/>
                </a:solidFill>
                <a:latin typeface="Calibri" pitchFamily="34" charset="0"/>
                <a:ea typeface="Calibri" pitchFamily="34" charset="-122"/>
                <a:cs typeface="Calibri" pitchFamily="34" charset="-120"/>
              </a:rPr>
              <a:t>W = 30 m</a:t>
            </a:r>
            <a:endParaRPr lang="en-US" sz="1100" dirty="0"/>
          </a:p>
        </p:txBody>
      </p:sp>
      <p:sp>
        <p:nvSpPr>
          <p:cNvPr id="29" name="Shape 27"/>
          <p:cNvSpPr/>
          <p:nvPr/>
        </p:nvSpPr>
        <p:spPr>
          <a:xfrm>
            <a:off x="9006840" y="1965960"/>
            <a:ext cx="2606040" cy="4160520"/>
          </a:xfrm>
          <a:prstGeom prst="roundRect">
            <a:avLst>
              <a:gd name="adj" fmla="val 2807"/>
            </a:avLst>
          </a:prstGeom>
          <a:solidFill>
            <a:srgbClr val="1E2761"/>
          </a:solidFill>
          <a:ln/>
        </p:spPr>
      </p:sp>
      <p:sp>
        <p:nvSpPr>
          <p:cNvPr id="30" name="Text 28"/>
          <p:cNvSpPr txBox="1"/>
          <p:nvPr/>
        </p:nvSpPr>
        <p:spPr>
          <a:xfrm>
            <a:off x="9235440" y="2103120"/>
            <a:ext cx="2194560" cy="292608"/>
          </a:xfrm>
          <a:prstGeom prst="rect">
            <a:avLst/>
          </a:prstGeom>
          <a:noFill/>
          <a:ln/>
        </p:spPr>
        <p:txBody>
          <a:bodyPr wrap="square" lIns="0" tIns="0" rIns="0" bIns="0" rtlCol="0" anchor="ctr"/>
          <a:lstStyle/>
          <a:p>
            <a:pPr marL="0" indent="0">
              <a:buNone/>
            </a:pPr>
            <a:r>
              <a:rPr lang="en-US" sz="1300" b="1" dirty="0">
                <a:solidFill>
                  <a:srgbClr val="E3A857"/>
                </a:solidFill>
                <a:latin typeface="Calibri" pitchFamily="34" charset="0"/>
                <a:ea typeface="Calibri" pitchFamily="34" charset="-122"/>
                <a:cs typeface="Calibri" pitchFamily="34" charset="-120"/>
              </a:rPr>
              <a:t>At a glance</a:t>
            </a:r>
            <a:endParaRPr lang="en-US" sz="1300" dirty="0"/>
          </a:p>
        </p:txBody>
      </p:sp>
      <p:sp>
        <p:nvSpPr>
          <p:cNvPr id="31" name="Text 29"/>
          <p:cNvSpPr txBox="1"/>
          <p:nvPr/>
        </p:nvSpPr>
        <p:spPr>
          <a:xfrm>
            <a:off x="9235440" y="2487168"/>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Room</a:t>
            </a:r>
            <a:endParaRPr lang="en-US" sz="1050" dirty="0"/>
          </a:p>
        </p:txBody>
      </p:sp>
      <p:sp>
        <p:nvSpPr>
          <p:cNvPr id="32" name="Text 30"/>
          <p:cNvSpPr txBox="1"/>
          <p:nvPr/>
        </p:nvSpPr>
        <p:spPr>
          <a:xfrm>
            <a:off x="10469880" y="2487168"/>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30 m × 90 m</a:t>
            </a:r>
            <a:endParaRPr lang="en-US" sz="1050" dirty="0"/>
          </a:p>
        </p:txBody>
      </p:sp>
      <p:sp>
        <p:nvSpPr>
          <p:cNvPr id="33" name="Text 31"/>
          <p:cNvSpPr txBox="1"/>
          <p:nvPr/>
        </p:nvSpPr>
        <p:spPr>
          <a:xfrm>
            <a:off x="9235440" y="2907792"/>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Stage depth</a:t>
            </a:r>
            <a:endParaRPr lang="en-US" sz="1050" dirty="0"/>
          </a:p>
        </p:txBody>
      </p:sp>
      <p:sp>
        <p:nvSpPr>
          <p:cNvPr id="34" name="Text 32"/>
          <p:cNvSpPr txBox="1"/>
          <p:nvPr/>
        </p:nvSpPr>
        <p:spPr>
          <a:xfrm>
            <a:off x="10469880" y="2907792"/>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 m</a:t>
            </a:r>
            <a:endParaRPr lang="en-US" sz="1050" dirty="0"/>
          </a:p>
        </p:txBody>
      </p:sp>
      <p:sp>
        <p:nvSpPr>
          <p:cNvPr id="35" name="Text 33"/>
          <p:cNvSpPr txBox="1"/>
          <p:nvPr/>
        </p:nvSpPr>
        <p:spPr>
          <a:xfrm>
            <a:off x="9235440" y="3328416"/>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Total doors</a:t>
            </a:r>
            <a:endParaRPr lang="en-US" sz="1050" dirty="0"/>
          </a:p>
        </p:txBody>
      </p:sp>
      <p:sp>
        <p:nvSpPr>
          <p:cNvPr id="36" name="Text 34"/>
          <p:cNvSpPr txBox="1"/>
          <p:nvPr/>
        </p:nvSpPr>
        <p:spPr>
          <a:xfrm>
            <a:off x="10469880" y="3328416"/>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  (2 m wide)</a:t>
            </a:r>
            <a:endParaRPr lang="en-US" sz="1050" dirty="0"/>
          </a:p>
        </p:txBody>
      </p:sp>
      <p:sp>
        <p:nvSpPr>
          <p:cNvPr id="37" name="Text 35"/>
          <p:cNvSpPr txBox="1"/>
          <p:nvPr/>
        </p:nvSpPr>
        <p:spPr>
          <a:xfrm>
            <a:off x="9235440" y="3749040"/>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Left wall</a:t>
            </a:r>
            <a:endParaRPr lang="en-US" sz="1050" dirty="0"/>
          </a:p>
        </p:txBody>
      </p:sp>
      <p:sp>
        <p:nvSpPr>
          <p:cNvPr id="38" name="Text 36"/>
          <p:cNvSpPr txBox="1"/>
          <p:nvPr/>
        </p:nvSpPr>
        <p:spPr>
          <a:xfrm>
            <a:off x="10469880" y="3749040"/>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D1–D4</a:t>
            </a:r>
            <a:endParaRPr lang="en-US" sz="1050" dirty="0"/>
          </a:p>
        </p:txBody>
      </p:sp>
      <p:sp>
        <p:nvSpPr>
          <p:cNvPr id="39" name="Text 37"/>
          <p:cNvSpPr txBox="1"/>
          <p:nvPr/>
        </p:nvSpPr>
        <p:spPr>
          <a:xfrm>
            <a:off x="9235440" y="4169664"/>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Right wall</a:t>
            </a:r>
            <a:endParaRPr lang="en-US" sz="1050" dirty="0"/>
          </a:p>
        </p:txBody>
      </p:sp>
      <p:sp>
        <p:nvSpPr>
          <p:cNvPr id="40" name="Text 38"/>
          <p:cNvSpPr txBox="1"/>
          <p:nvPr/>
        </p:nvSpPr>
        <p:spPr>
          <a:xfrm>
            <a:off x="10469880" y="4169664"/>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D5–D8</a:t>
            </a:r>
            <a:endParaRPr lang="en-US" sz="1050" dirty="0"/>
          </a:p>
        </p:txBody>
      </p:sp>
      <p:sp>
        <p:nvSpPr>
          <p:cNvPr id="41" name="Text 39"/>
          <p:cNvSpPr txBox="1"/>
          <p:nvPr/>
        </p:nvSpPr>
        <p:spPr>
          <a:xfrm>
            <a:off x="9235440" y="4590288"/>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Back wall</a:t>
            </a:r>
            <a:endParaRPr lang="en-US" sz="1050" dirty="0"/>
          </a:p>
        </p:txBody>
      </p:sp>
      <p:sp>
        <p:nvSpPr>
          <p:cNvPr id="42" name="Text 40"/>
          <p:cNvSpPr txBox="1"/>
          <p:nvPr/>
        </p:nvSpPr>
        <p:spPr>
          <a:xfrm>
            <a:off x="10469880" y="4590288"/>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D9–D10</a:t>
            </a:r>
            <a:endParaRPr lang="en-US" sz="1050" dirty="0"/>
          </a:p>
        </p:txBody>
      </p:sp>
      <p:sp>
        <p:nvSpPr>
          <p:cNvPr id="43" name="Text 41"/>
          <p:cNvSpPr txBox="1"/>
          <p:nvPr/>
        </p:nvSpPr>
        <p:spPr>
          <a:xfrm>
            <a:off x="9235440" y="5010912"/>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Initial density</a:t>
            </a:r>
            <a:endParaRPr lang="en-US" sz="1050" dirty="0"/>
          </a:p>
        </p:txBody>
      </p:sp>
      <p:sp>
        <p:nvSpPr>
          <p:cNvPr id="44" name="Text 42"/>
          <p:cNvSpPr txBox="1"/>
          <p:nvPr/>
        </p:nvSpPr>
        <p:spPr>
          <a:xfrm>
            <a:off x="10469880" y="5010912"/>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0.5 people/m²</a:t>
            </a:r>
            <a:endParaRPr lang="en-US" sz="1050" dirty="0"/>
          </a:p>
        </p:txBody>
      </p:sp>
      <p:sp>
        <p:nvSpPr>
          <p:cNvPr id="45" name="Text 43"/>
          <p:cNvSpPr txBox="1"/>
          <p:nvPr/>
        </p:nvSpPr>
        <p:spPr>
          <a:xfrm>
            <a:off x="9235440" y="5431536"/>
            <a:ext cx="1234440" cy="3657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People in room</a:t>
            </a:r>
            <a:endParaRPr lang="en-US" sz="1050" dirty="0"/>
          </a:p>
        </p:txBody>
      </p:sp>
      <p:sp>
        <p:nvSpPr>
          <p:cNvPr id="46" name="Text 44"/>
          <p:cNvSpPr txBox="1"/>
          <p:nvPr/>
        </p:nvSpPr>
        <p:spPr>
          <a:xfrm>
            <a:off x="10469880" y="5431536"/>
            <a:ext cx="1051560" cy="365760"/>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 1200</a:t>
            </a:r>
            <a:endParaRPr lang="en-US" sz="1050" dirty="0"/>
          </a:p>
        </p:txBody>
      </p:sp>
      <p:sp>
        <p:nvSpPr>
          <p:cNvPr id="47" name="Text 45"/>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48" name="Text 46"/>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03  ·  SIMULATION SETUP</a:t>
            </a:r>
            <a:endParaRPr lang="en-US" sz="1300" dirty="0"/>
          </a:p>
        </p:txBody>
      </p:sp>
      <p:sp>
        <p:nvSpPr>
          <p:cNvPr id="3" name="Text 1"/>
          <p:cNvSpPr txBox="1"/>
          <p:nvPr/>
        </p:nvSpPr>
        <p:spPr>
          <a:xfrm>
            <a:off x="548640" y="713232"/>
            <a:ext cx="91440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How each run is carried out</a:t>
            </a:r>
            <a:endParaRPr lang="en-US" sz="2600" dirty="0"/>
          </a:p>
        </p:txBody>
      </p:sp>
      <p:sp>
        <p:nvSpPr>
          <p:cNvPr id="4" name="Shape 2"/>
          <p:cNvSpPr/>
          <p:nvPr/>
        </p:nvSpPr>
        <p:spPr>
          <a:xfrm>
            <a:off x="548640" y="1600200"/>
            <a:ext cx="566928" cy="841248"/>
          </a:xfrm>
          <a:prstGeom prst="roundRect">
            <a:avLst>
              <a:gd name="adj" fmla="val 12903"/>
            </a:avLst>
          </a:prstGeom>
          <a:solidFill>
            <a:srgbClr val="1E2761"/>
          </a:solidFill>
          <a:ln/>
        </p:spPr>
      </p:sp>
      <p:sp>
        <p:nvSpPr>
          <p:cNvPr id="5" name="Text 3"/>
          <p:cNvSpPr txBox="1"/>
          <p:nvPr/>
        </p:nvSpPr>
        <p:spPr>
          <a:xfrm>
            <a:off x="548640" y="1600200"/>
            <a:ext cx="566928" cy="84124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1234440" y="1600200"/>
            <a:ext cx="10424160" cy="841248"/>
          </a:xfrm>
          <a:prstGeom prst="roundRect">
            <a:avLst>
              <a:gd name="adj" fmla="val 8696"/>
            </a:avLst>
          </a:prstGeom>
          <a:solidFill>
            <a:srgbClr val="F3F5FC"/>
          </a:solidFill>
          <a:ln/>
        </p:spPr>
      </p:sp>
      <p:sp>
        <p:nvSpPr>
          <p:cNvPr id="7" name="Text 5"/>
          <p:cNvSpPr txBox="1"/>
          <p:nvPr/>
        </p:nvSpPr>
        <p:spPr>
          <a:xfrm>
            <a:off x="1463040" y="1673352"/>
            <a:ext cx="2743200" cy="69494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Initialize</a:t>
            </a:r>
            <a:endParaRPr lang="en-US" sz="1350" dirty="0"/>
          </a:p>
        </p:txBody>
      </p:sp>
      <p:sp>
        <p:nvSpPr>
          <p:cNvPr id="8" name="Text 6"/>
          <p:cNvSpPr txBox="1"/>
          <p:nvPr/>
        </p:nvSpPr>
        <p:spPr>
          <a:xfrm>
            <a:off x="4160520" y="1673352"/>
            <a:ext cx="7315200" cy="694944"/>
          </a:xfrm>
          <a:prstGeom prst="rect">
            <a:avLst/>
          </a:prstGeom>
          <a:noFill/>
          <a:ln/>
        </p:spPr>
        <p:txBody>
          <a:bodyPr wrap="square" lIns="0" tIns="0" rIns="0" bIns="0" rtlCol="0" anchor="ctr"/>
          <a:lstStyle/>
          <a:p>
            <a:pPr marL="0" indent="0">
              <a:lnSpc>
                <a:spcPct val="112000"/>
              </a:lnSpc>
              <a:buNone/>
            </a:pPr>
            <a:r>
              <a:rPr lang="en-US" sz="1150" dirty="0">
                <a:solidFill>
                  <a:srgbClr val="1B1F2A"/>
                </a:solidFill>
                <a:latin typeface="Calibri" pitchFamily="34" charset="0"/>
                <a:ea typeface="Calibri" pitchFamily="34" charset="-122"/>
                <a:cs typeface="Calibri" pitchFamily="34" charset="-120"/>
              </a:rPr>
              <a:t>Uniform crowd density (0.5 people/m²) fills the room except the stage; doors for this case are marked open, all others closed.</a:t>
            </a:r>
            <a:endParaRPr lang="en-US" sz="1150" dirty="0"/>
          </a:p>
        </p:txBody>
      </p:sp>
      <p:sp>
        <p:nvSpPr>
          <p:cNvPr id="9" name="Shape 7"/>
          <p:cNvSpPr/>
          <p:nvPr/>
        </p:nvSpPr>
        <p:spPr>
          <a:xfrm>
            <a:off x="548640" y="2569464"/>
            <a:ext cx="566928" cy="841248"/>
          </a:xfrm>
          <a:prstGeom prst="roundRect">
            <a:avLst>
              <a:gd name="adj" fmla="val 12903"/>
            </a:avLst>
          </a:prstGeom>
          <a:solidFill>
            <a:srgbClr val="1E2761"/>
          </a:solidFill>
          <a:ln/>
        </p:spPr>
      </p:sp>
      <p:sp>
        <p:nvSpPr>
          <p:cNvPr id="10" name="Text 8"/>
          <p:cNvSpPr txBox="1"/>
          <p:nvPr/>
        </p:nvSpPr>
        <p:spPr>
          <a:xfrm>
            <a:off x="548640" y="2569464"/>
            <a:ext cx="566928" cy="84124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Shape 9"/>
          <p:cNvSpPr/>
          <p:nvPr/>
        </p:nvSpPr>
        <p:spPr>
          <a:xfrm>
            <a:off x="1234440" y="2569464"/>
            <a:ext cx="10424160" cy="841248"/>
          </a:xfrm>
          <a:prstGeom prst="roundRect">
            <a:avLst>
              <a:gd name="adj" fmla="val 8696"/>
            </a:avLst>
          </a:prstGeom>
          <a:solidFill>
            <a:srgbClr val="F3F5FC"/>
          </a:solidFill>
          <a:ln/>
        </p:spPr>
      </p:sp>
      <p:sp>
        <p:nvSpPr>
          <p:cNvPr id="12" name="Text 10"/>
          <p:cNvSpPr txBox="1"/>
          <p:nvPr/>
        </p:nvSpPr>
        <p:spPr>
          <a:xfrm>
            <a:off x="1463040" y="2642616"/>
            <a:ext cx="2743200" cy="69494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Solve for direction</a:t>
            </a:r>
            <a:endParaRPr lang="en-US" sz="1350" dirty="0"/>
          </a:p>
        </p:txBody>
      </p:sp>
      <p:sp>
        <p:nvSpPr>
          <p:cNvPr id="13" name="Text 11"/>
          <p:cNvSpPr txBox="1"/>
          <p:nvPr/>
        </p:nvSpPr>
        <p:spPr>
          <a:xfrm>
            <a:off x="4160520" y="2642616"/>
            <a:ext cx="7315200" cy="694944"/>
          </a:xfrm>
          <a:prstGeom prst="rect">
            <a:avLst/>
          </a:prstGeom>
          <a:noFill/>
          <a:ln/>
        </p:spPr>
        <p:txBody>
          <a:bodyPr wrap="square" lIns="0" tIns="0" rIns="0" bIns="0" rtlCol="0" anchor="ctr"/>
          <a:lstStyle/>
          <a:p>
            <a:pPr marL="0" indent="0">
              <a:lnSpc>
                <a:spcPct val="112000"/>
              </a:lnSpc>
              <a:buNone/>
            </a:pPr>
            <a:r>
              <a:rPr lang="en-US" sz="1150" dirty="0">
                <a:solidFill>
                  <a:srgbClr val="1B1F2A"/>
                </a:solidFill>
                <a:latin typeface="Calibri" pitchFamily="34" charset="0"/>
                <a:ea typeface="Calibri" pitchFamily="34" charset="-122"/>
                <a:cs typeface="Calibri" pitchFamily="34" charset="-120"/>
              </a:rPr>
              <a:t>Compute the travel-cost potential φ (WENO fast sweeping) and derive the walking-velocity field toward the nearest open door.</a:t>
            </a:r>
            <a:endParaRPr lang="en-US" sz="1150" dirty="0"/>
          </a:p>
        </p:txBody>
      </p:sp>
      <p:sp>
        <p:nvSpPr>
          <p:cNvPr id="14" name="Shape 12"/>
          <p:cNvSpPr/>
          <p:nvPr/>
        </p:nvSpPr>
        <p:spPr>
          <a:xfrm>
            <a:off x="548640" y="3538728"/>
            <a:ext cx="566928" cy="841248"/>
          </a:xfrm>
          <a:prstGeom prst="roundRect">
            <a:avLst>
              <a:gd name="adj" fmla="val 12903"/>
            </a:avLst>
          </a:prstGeom>
          <a:solidFill>
            <a:srgbClr val="1E2761"/>
          </a:solidFill>
          <a:ln/>
        </p:spPr>
      </p:sp>
      <p:sp>
        <p:nvSpPr>
          <p:cNvPr id="15" name="Text 13"/>
          <p:cNvSpPr txBox="1"/>
          <p:nvPr/>
        </p:nvSpPr>
        <p:spPr>
          <a:xfrm>
            <a:off x="548640" y="3538728"/>
            <a:ext cx="566928" cy="84124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234440" y="3538728"/>
            <a:ext cx="10424160" cy="841248"/>
          </a:xfrm>
          <a:prstGeom prst="roundRect">
            <a:avLst>
              <a:gd name="adj" fmla="val 8696"/>
            </a:avLst>
          </a:prstGeom>
          <a:solidFill>
            <a:srgbClr val="F3F5FC"/>
          </a:solidFill>
          <a:ln/>
        </p:spPr>
      </p:sp>
      <p:sp>
        <p:nvSpPr>
          <p:cNvPr id="17" name="Text 15"/>
          <p:cNvSpPr txBox="1"/>
          <p:nvPr/>
        </p:nvSpPr>
        <p:spPr>
          <a:xfrm>
            <a:off x="1463040" y="3611880"/>
            <a:ext cx="2743200" cy="69494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Advance density</a:t>
            </a:r>
            <a:endParaRPr lang="en-US" sz="1350" dirty="0"/>
          </a:p>
        </p:txBody>
      </p:sp>
      <p:sp>
        <p:nvSpPr>
          <p:cNvPr id="18" name="Text 16"/>
          <p:cNvSpPr txBox="1"/>
          <p:nvPr/>
        </p:nvSpPr>
        <p:spPr>
          <a:xfrm>
            <a:off x="4160520" y="3611880"/>
            <a:ext cx="7315200" cy="694944"/>
          </a:xfrm>
          <a:prstGeom prst="rect">
            <a:avLst/>
          </a:prstGeom>
          <a:noFill/>
          <a:ln/>
        </p:spPr>
        <p:txBody>
          <a:bodyPr wrap="square" lIns="0" tIns="0" rIns="0" bIns="0" rtlCol="0" anchor="ctr"/>
          <a:lstStyle/>
          <a:p>
            <a:pPr marL="0" indent="0">
              <a:lnSpc>
                <a:spcPct val="112000"/>
              </a:lnSpc>
              <a:buNone/>
            </a:pPr>
            <a:r>
              <a:rPr lang="en-US" sz="1150" dirty="0">
                <a:solidFill>
                  <a:srgbClr val="1B1F2A"/>
                </a:solidFill>
                <a:latin typeface="Calibri" pitchFamily="34" charset="0"/>
                <a:ea typeface="Calibri" pitchFamily="34" charset="-122"/>
                <a:cs typeface="Calibri" pitchFamily="34" charset="-120"/>
              </a:rPr>
              <a:t>March ρ forward in time with a WENO5 finite-volume scheme + 3rd-order Runge–Kutta, enforcing no flux at walls/stage and capacity-limited flux at open doors.</a:t>
            </a:r>
            <a:endParaRPr lang="en-US" sz="1150" dirty="0"/>
          </a:p>
        </p:txBody>
      </p:sp>
      <p:sp>
        <p:nvSpPr>
          <p:cNvPr id="19" name="Shape 17"/>
          <p:cNvSpPr/>
          <p:nvPr/>
        </p:nvSpPr>
        <p:spPr>
          <a:xfrm>
            <a:off x="548640" y="4507992"/>
            <a:ext cx="566928" cy="841248"/>
          </a:xfrm>
          <a:prstGeom prst="roundRect">
            <a:avLst>
              <a:gd name="adj" fmla="val 12903"/>
            </a:avLst>
          </a:prstGeom>
          <a:solidFill>
            <a:srgbClr val="1E2761"/>
          </a:solidFill>
          <a:ln/>
        </p:spPr>
      </p:sp>
      <p:sp>
        <p:nvSpPr>
          <p:cNvPr id="20" name="Text 18"/>
          <p:cNvSpPr txBox="1"/>
          <p:nvPr/>
        </p:nvSpPr>
        <p:spPr>
          <a:xfrm>
            <a:off x="548640" y="4507992"/>
            <a:ext cx="566928" cy="84124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Shape 19"/>
          <p:cNvSpPr/>
          <p:nvPr/>
        </p:nvSpPr>
        <p:spPr>
          <a:xfrm>
            <a:off x="1234440" y="4507992"/>
            <a:ext cx="10424160" cy="841248"/>
          </a:xfrm>
          <a:prstGeom prst="roundRect">
            <a:avLst>
              <a:gd name="adj" fmla="val 8696"/>
            </a:avLst>
          </a:prstGeom>
          <a:solidFill>
            <a:srgbClr val="F3F5FC"/>
          </a:solidFill>
          <a:ln/>
        </p:spPr>
      </p:sp>
      <p:sp>
        <p:nvSpPr>
          <p:cNvPr id="22" name="Text 20"/>
          <p:cNvSpPr txBox="1"/>
          <p:nvPr/>
        </p:nvSpPr>
        <p:spPr>
          <a:xfrm>
            <a:off x="1463040" y="4581144"/>
            <a:ext cx="2743200" cy="69494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Record &amp; render</a:t>
            </a:r>
            <a:endParaRPr lang="en-US" sz="1350" dirty="0"/>
          </a:p>
        </p:txBody>
      </p:sp>
      <p:sp>
        <p:nvSpPr>
          <p:cNvPr id="23" name="Text 21"/>
          <p:cNvSpPr txBox="1"/>
          <p:nvPr/>
        </p:nvSpPr>
        <p:spPr>
          <a:xfrm>
            <a:off x="4160520" y="4581144"/>
            <a:ext cx="7315200" cy="694944"/>
          </a:xfrm>
          <a:prstGeom prst="rect">
            <a:avLst/>
          </a:prstGeom>
          <a:noFill/>
          <a:ln/>
        </p:spPr>
        <p:txBody>
          <a:bodyPr wrap="square" lIns="0" tIns="0" rIns="0" bIns="0" rtlCol="0" anchor="ctr"/>
          <a:lstStyle/>
          <a:p>
            <a:pPr marL="0" indent="0">
              <a:lnSpc>
                <a:spcPct val="112000"/>
              </a:lnSpc>
              <a:buNone/>
            </a:pPr>
            <a:r>
              <a:rPr lang="en-US" sz="1150" dirty="0">
                <a:solidFill>
                  <a:srgbClr val="1B1F2A"/>
                </a:solidFill>
                <a:latin typeface="Calibri" pitchFamily="34" charset="0"/>
                <a:ea typeface="Calibri" pitchFamily="34" charset="-122"/>
                <a:cs typeface="Calibri" pitchFamily="34" charset="-120"/>
              </a:rPr>
              <a:t>Track people remaining inside vs. time; write a density video and a walking-velocity video every 0.5 s of simulated time.</a:t>
            </a:r>
            <a:endParaRPr lang="en-US" sz="1150" dirty="0"/>
          </a:p>
        </p:txBody>
      </p:sp>
      <p:sp>
        <p:nvSpPr>
          <p:cNvPr id="24" name="Shape 22"/>
          <p:cNvSpPr/>
          <p:nvPr/>
        </p:nvSpPr>
        <p:spPr>
          <a:xfrm>
            <a:off x="548640" y="5477256"/>
            <a:ext cx="566928" cy="841248"/>
          </a:xfrm>
          <a:prstGeom prst="roundRect">
            <a:avLst>
              <a:gd name="adj" fmla="val 12903"/>
            </a:avLst>
          </a:prstGeom>
          <a:solidFill>
            <a:srgbClr val="E3A857"/>
          </a:solidFill>
          <a:ln/>
        </p:spPr>
      </p:sp>
      <p:sp>
        <p:nvSpPr>
          <p:cNvPr id="25" name="Text 23"/>
          <p:cNvSpPr txBox="1"/>
          <p:nvPr/>
        </p:nvSpPr>
        <p:spPr>
          <a:xfrm>
            <a:off x="548640" y="5477256"/>
            <a:ext cx="566928" cy="84124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6" name="Shape 24"/>
          <p:cNvSpPr/>
          <p:nvPr/>
        </p:nvSpPr>
        <p:spPr>
          <a:xfrm>
            <a:off x="1234440" y="5477256"/>
            <a:ext cx="10424160" cy="841248"/>
          </a:xfrm>
          <a:prstGeom prst="roundRect">
            <a:avLst>
              <a:gd name="adj" fmla="val 8696"/>
            </a:avLst>
          </a:prstGeom>
          <a:solidFill>
            <a:srgbClr val="F3F5FC"/>
          </a:solidFill>
          <a:ln/>
        </p:spPr>
      </p:sp>
      <p:sp>
        <p:nvSpPr>
          <p:cNvPr id="27" name="Text 25"/>
          <p:cNvSpPr txBox="1"/>
          <p:nvPr/>
        </p:nvSpPr>
        <p:spPr>
          <a:xfrm>
            <a:off x="1463040" y="5550408"/>
            <a:ext cx="2743200" cy="69494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Stop condition</a:t>
            </a:r>
            <a:endParaRPr lang="en-US" sz="1350" dirty="0"/>
          </a:p>
        </p:txBody>
      </p:sp>
      <p:sp>
        <p:nvSpPr>
          <p:cNvPr id="28" name="Text 26"/>
          <p:cNvSpPr txBox="1"/>
          <p:nvPr/>
        </p:nvSpPr>
        <p:spPr>
          <a:xfrm>
            <a:off x="4160520" y="5550408"/>
            <a:ext cx="7315200" cy="694944"/>
          </a:xfrm>
          <a:prstGeom prst="rect">
            <a:avLst/>
          </a:prstGeom>
          <a:noFill/>
          <a:ln/>
        </p:spPr>
        <p:txBody>
          <a:bodyPr wrap="square" lIns="0" tIns="0" rIns="0" bIns="0" rtlCol="0" anchor="ctr"/>
          <a:lstStyle/>
          <a:p>
            <a:pPr marL="0" indent="0">
              <a:lnSpc>
                <a:spcPct val="112000"/>
              </a:lnSpc>
              <a:buNone/>
            </a:pPr>
            <a:r>
              <a:rPr lang="en-US" sz="1150" dirty="0">
                <a:solidFill>
                  <a:srgbClr val="1B1F2A"/>
                </a:solidFill>
                <a:latin typeface="Calibri" pitchFamily="34" charset="0"/>
                <a:ea typeface="Calibri" pitchFamily="34" charset="-122"/>
                <a:cs typeface="Calibri" pitchFamily="34" charset="-120"/>
              </a:rPr>
              <a:t>The run ends when ≤ 1% of the crowd remains inside, giving the evacuation time t_evac for that door combination.</a:t>
            </a:r>
            <a:endParaRPr lang="en-US" sz="1150" dirty="0"/>
          </a:p>
        </p:txBody>
      </p:sp>
      <p:sp>
        <p:nvSpPr>
          <p:cNvPr id="29" name="Text 2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30" name="Text 28"/>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04  ·  RESULTS</a:t>
            </a:r>
            <a:endParaRPr lang="en-US" sz="1300" dirty="0"/>
          </a:p>
        </p:txBody>
      </p:sp>
      <p:sp>
        <p:nvSpPr>
          <p:cNvPr id="3" name="Text 1"/>
          <p:cNvSpPr txBox="1"/>
          <p:nvPr/>
        </p:nvSpPr>
        <p:spPr>
          <a:xfrm>
            <a:off x="548640" y="713232"/>
            <a:ext cx="105156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Evacuation time vs. number of doors open</a:t>
            </a:r>
            <a:endParaRPr lang="en-US" sz="2600" dirty="0"/>
          </a:p>
        </p:txBody>
      </p:sp>
      <p:sp>
        <p:nvSpPr>
          <p:cNvPr id="4" name="Text 2"/>
          <p:cNvSpPr txBox="1"/>
          <p:nvPr/>
        </p:nvSpPr>
        <p:spPr>
          <a:xfrm>
            <a:off x="548640" y="1207008"/>
            <a:ext cx="10515600" cy="320040"/>
          </a:xfrm>
          <a:prstGeom prst="rect">
            <a:avLst/>
          </a:prstGeom>
          <a:noFill/>
          <a:ln/>
        </p:spPr>
        <p:txBody>
          <a:bodyPr wrap="square" lIns="0" tIns="0" rIns="0" bIns="0" rtlCol="0" anchor="ctr"/>
          <a:lstStyle/>
          <a:p>
            <a:pPr marL="0" indent="0">
              <a:buNone/>
            </a:pPr>
            <a:r>
              <a:rPr lang="en-US" sz="1250" i="1" dirty="0">
                <a:solidFill>
                  <a:srgbClr val="5B6178"/>
                </a:solidFill>
                <a:latin typeface="Calibri" pitchFamily="34" charset="0"/>
                <a:ea typeface="Calibri" pitchFamily="34" charset="-122"/>
                <a:cs typeface="Calibri" pitchFamily="34" charset="-120"/>
              </a:rPr>
              <a:t>Doors opened one by one, alternating between walls (D1 → D1,D5 → D1,D5,D9 → … → all 10 open)</a:t>
            </a:r>
            <a:endParaRPr lang="en-US" sz="1250" dirty="0"/>
          </a:p>
        </p:txBody>
      </p:sp>
      <p:sp>
        <p:nvSpPr>
          <p:cNvPr id="5" name="Shape 3"/>
          <p:cNvSpPr/>
          <p:nvPr/>
        </p:nvSpPr>
        <p:spPr>
          <a:xfrm>
            <a:off x="548640" y="1737360"/>
            <a:ext cx="6766560" cy="397764"/>
          </a:xfrm>
          <a:prstGeom prst="roundRect">
            <a:avLst>
              <a:gd name="adj" fmla="val 11494"/>
            </a:avLst>
          </a:prstGeom>
          <a:solidFill>
            <a:srgbClr val="1E2761"/>
          </a:solidFill>
          <a:ln/>
        </p:spPr>
      </p:sp>
      <p:sp>
        <p:nvSpPr>
          <p:cNvPr id="6" name="Text 4"/>
          <p:cNvSpPr txBox="1"/>
          <p:nvPr/>
        </p:nvSpPr>
        <p:spPr>
          <a:xfrm>
            <a:off x="731520" y="1737360"/>
            <a:ext cx="4937760" cy="39776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Doors open</a:t>
            </a:r>
            <a:endParaRPr lang="en-US" sz="1200" dirty="0"/>
          </a:p>
        </p:txBody>
      </p:sp>
      <p:sp>
        <p:nvSpPr>
          <p:cNvPr id="7" name="Text 5"/>
          <p:cNvSpPr txBox="1"/>
          <p:nvPr/>
        </p:nvSpPr>
        <p:spPr>
          <a:xfrm>
            <a:off x="5486400" y="1737360"/>
            <a:ext cx="1645920" cy="397764"/>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Evacuation time (s)</a:t>
            </a:r>
            <a:endParaRPr lang="en-US" sz="1200" dirty="0"/>
          </a:p>
        </p:txBody>
      </p:sp>
      <p:sp>
        <p:nvSpPr>
          <p:cNvPr id="8" name="Shape 6"/>
          <p:cNvSpPr/>
          <p:nvPr/>
        </p:nvSpPr>
        <p:spPr>
          <a:xfrm>
            <a:off x="548640" y="2135124"/>
            <a:ext cx="6766560" cy="397764"/>
          </a:xfrm>
          <a:prstGeom prst="rect">
            <a:avLst/>
          </a:prstGeom>
          <a:solidFill>
            <a:srgbClr val="FFFFFF"/>
          </a:solidFill>
          <a:ln w="9525">
            <a:solidFill>
              <a:srgbClr val="E4E7F0"/>
            </a:solidFill>
            <a:prstDash val="solid"/>
          </a:ln>
        </p:spPr>
      </p:sp>
      <p:sp>
        <p:nvSpPr>
          <p:cNvPr id="9" name="Text 7"/>
          <p:cNvSpPr txBox="1"/>
          <p:nvPr/>
        </p:nvSpPr>
        <p:spPr>
          <a:xfrm>
            <a:off x="731520" y="2135124"/>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a:t>
            </a:r>
            <a:endParaRPr lang="en-US" sz="1050" dirty="0"/>
          </a:p>
        </p:txBody>
      </p:sp>
      <p:sp>
        <p:nvSpPr>
          <p:cNvPr id="10" name="Text 8"/>
          <p:cNvSpPr txBox="1"/>
          <p:nvPr/>
        </p:nvSpPr>
        <p:spPr>
          <a:xfrm>
            <a:off x="5486400" y="2135124"/>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119.9</a:t>
            </a:r>
            <a:endParaRPr lang="en-US" sz="1150" dirty="0"/>
          </a:p>
        </p:txBody>
      </p:sp>
      <p:sp>
        <p:nvSpPr>
          <p:cNvPr id="11" name="Shape 9"/>
          <p:cNvSpPr/>
          <p:nvPr/>
        </p:nvSpPr>
        <p:spPr>
          <a:xfrm>
            <a:off x="548640" y="2532888"/>
            <a:ext cx="6766560" cy="397764"/>
          </a:xfrm>
          <a:prstGeom prst="rect">
            <a:avLst/>
          </a:prstGeom>
          <a:solidFill>
            <a:srgbClr val="F3F5FC"/>
          </a:solidFill>
          <a:ln w="9525">
            <a:solidFill>
              <a:srgbClr val="E4E7F0"/>
            </a:solidFill>
            <a:prstDash val="solid"/>
          </a:ln>
        </p:spPr>
      </p:sp>
      <p:sp>
        <p:nvSpPr>
          <p:cNvPr id="12" name="Text 10"/>
          <p:cNvSpPr txBox="1"/>
          <p:nvPr/>
        </p:nvSpPr>
        <p:spPr>
          <a:xfrm>
            <a:off x="731520" y="2532888"/>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D5</a:t>
            </a:r>
            <a:endParaRPr lang="en-US" sz="1050" dirty="0"/>
          </a:p>
        </p:txBody>
      </p:sp>
      <p:sp>
        <p:nvSpPr>
          <p:cNvPr id="13" name="Text 11"/>
          <p:cNvSpPr txBox="1"/>
          <p:nvPr/>
        </p:nvSpPr>
        <p:spPr>
          <a:xfrm>
            <a:off x="5486400" y="2532888"/>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60.6</a:t>
            </a:r>
            <a:endParaRPr lang="en-US" sz="1150" dirty="0"/>
          </a:p>
        </p:txBody>
      </p:sp>
      <p:sp>
        <p:nvSpPr>
          <p:cNvPr id="14" name="Shape 12"/>
          <p:cNvSpPr/>
          <p:nvPr/>
        </p:nvSpPr>
        <p:spPr>
          <a:xfrm>
            <a:off x="548640" y="2930652"/>
            <a:ext cx="6766560" cy="397764"/>
          </a:xfrm>
          <a:prstGeom prst="rect">
            <a:avLst/>
          </a:prstGeom>
          <a:solidFill>
            <a:srgbClr val="FFFFFF"/>
          </a:solidFill>
          <a:ln w="9525">
            <a:solidFill>
              <a:srgbClr val="E4E7F0"/>
            </a:solidFill>
            <a:prstDash val="solid"/>
          </a:ln>
        </p:spPr>
      </p:sp>
      <p:sp>
        <p:nvSpPr>
          <p:cNvPr id="15" name="Text 13"/>
          <p:cNvSpPr txBox="1"/>
          <p:nvPr/>
        </p:nvSpPr>
        <p:spPr>
          <a:xfrm>
            <a:off x="731520" y="2930652"/>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D5, D9</a:t>
            </a:r>
            <a:endParaRPr lang="en-US" sz="1050" dirty="0"/>
          </a:p>
        </p:txBody>
      </p:sp>
      <p:sp>
        <p:nvSpPr>
          <p:cNvPr id="16" name="Text 14"/>
          <p:cNvSpPr txBox="1"/>
          <p:nvPr/>
        </p:nvSpPr>
        <p:spPr>
          <a:xfrm>
            <a:off x="5486400" y="2930652"/>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47.6</a:t>
            </a:r>
            <a:endParaRPr lang="en-US" sz="1150" dirty="0"/>
          </a:p>
        </p:txBody>
      </p:sp>
      <p:sp>
        <p:nvSpPr>
          <p:cNvPr id="17" name="Shape 15"/>
          <p:cNvSpPr/>
          <p:nvPr/>
        </p:nvSpPr>
        <p:spPr>
          <a:xfrm>
            <a:off x="548640" y="3328416"/>
            <a:ext cx="6766560" cy="397764"/>
          </a:xfrm>
          <a:prstGeom prst="rect">
            <a:avLst/>
          </a:prstGeom>
          <a:solidFill>
            <a:srgbClr val="F3F5FC"/>
          </a:solidFill>
          <a:ln w="9525">
            <a:solidFill>
              <a:srgbClr val="E4E7F0"/>
            </a:solidFill>
            <a:prstDash val="solid"/>
          </a:ln>
        </p:spPr>
      </p:sp>
      <p:sp>
        <p:nvSpPr>
          <p:cNvPr id="18" name="Text 16"/>
          <p:cNvSpPr txBox="1"/>
          <p:nvPr/>
        </p:nvSpPr>
        <p:spPr>
          <a:xfrm>
            <a:off x="731520" y="3328416"/>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D2, D5, D9</a:t>
            </a:r>
            <a:endParaRPr lang="en-US" sz="1050" dirty="0"/>
          </a:p>
        </p:txBody>
      </p:sp>
      <p:sp>
        <p:nvSpPr>
          <p:cNvPr id="19" name="Text 17"/>
          <p:cNvSpPr txBox="1"/>
          <p:nvPr/>
        </p:nvSpPr>
        <p:spPr>
          <a:xfrm>
            <a:off x="5486400" y="3328416"/>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39.1</a:t>
            </a:r>
            <a:endParaRPr lang="en-US" sz="1150" dirty="0"/>
          </a:p>
        </p:txBody>
      </p:sp>
      <p:sp>
        <p:nvSpPr>
          <p:cNvPr id="20" name="Shape 18"/>
          <p:cNvSpPr/>
          <p:nvPr/>
        </p:nvSpPr>
        <p:spPr>
          <a:xfrm>
            <a:off x="548640" y="3726180"/>
            <a:ext cx="6766560" cy="397764"/>
          </a:xfrm>
          <a:prstGeom prst="rect">
            <a:avLst/>
          </a:prstGeom>
          <a:solidFill>
            <a:srgbClr val="FFFFFF"/>
          </a:solidFill>
          <a:ln w="9525">
            <a:solidFill>
              <a:srgbClr val="E4E7F0"/>
            </a:solidFill>
            <a:prstDash val="solid"/>
          </a:ln>
        </p:spPr>
      </p:sp>
      <p:sp>
        <p:nvSpPr>
          <p:cNvPr id="21" name="Text 19"/>
          <p:cNvSpPr txBox="1"/>
          <p:nvPr/>
        </p:nvSpPr>
        <p:spPr>
          <a:xfrm>
            <a:off x="731520" y="3726180"/>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D2, D5, D6, D9</a:t>
            </a:r>
            <a:endParaRPr lang="en-US" sz="1050" dirty="0"/>
          </a:p>
        </p:txBody>
      </p:sp>
      <p:sp>
        <p:nvSpPr>
          <p:cNvPr id="22" name="Text 20"/>
          <p:cNvSpPr txBox="1"/>
          <p:nvPr/>
        </p:nvSpPr>
        <p:spPr>
          <a:xfrm>
            <a:off x="5486400" y="3726180"/>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35.5</a:t>
            </a:r>
            <a:endParaRPr lang="en-US" sz="1150" dirty="0"/>
          </a:p>
        </p:txBody>
      </p:sp>
      <p:sp>
        <p:nvSpPr>
          <p:cNvPr id="23" name="Shape 21"/>
          <p:cNvSpPr/>
          <p:nvPr/>
        </p:nvSpPr>
        <p:spPr>
          <a:xfrm>
            <a:off x="548640" y="4123944"/>
            <a:ext cx="6766560" cy="397764"/>
          </a:xfrm>
          <a:prstGeom prst="rect">
            <a:avLst/>
          </a:prstGeom>
          <a:solidFill>
            <a:srgbClr val="F3F5FC"/>
          </a:solidFill>
          <a:ln w="9525">
            <a:solidFill>
              <a:srgbClr val="E4E7F0"/>
            </a:solidFill>
            <a:prstDash val="solid"/>
          </a:ln>
        </p:spPr>
      </p:sp>
      <p:sp>
        <p:nvSpPr>
          <p:cNvPr id="24" name="Text 22"/>
          <p:cNvSpPr txBox="1"/>
          <p:nvPr/>
        </p:nvSpPr>
        <p:spPr>
          <a:xfrm>
            <a:off x="731520" y="4123944"/>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D2, D5, D6, D9, D10</a:t>
            </a:r>
            <a:endParaRPr lang="en-US" sz="1050" dirty="0"/>
          </a:p>
        </p:txBody>
      </p:sp>
      <p:sp>
        <p:nvSpPr>
          <p:cNvPr id="25" name="Text 23"/>
          <p:cNvSpPr txBox="1"/>
          <p:nvPr/>
        </p:nvSpPr>
        <p:spPr>
          <a:xfrm>
            <a:off x="5486400" y="4123944"/>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23.5</a:t>
            </a:r>
            <a:endParaRPr lang="en-US" sz="1150" dirty="0"/>
          </a:p>
        </p:txBody>
      </p:sp>
      <p:sp>
        <p:nvSpPr>
          <p:cNvPr id="26" name="Shape 24"/>
          <p:cNvSpPr/>
          <p:nvPr/>
        </p:nvSpPr>
        <p:spPr>
          <a:xfrm>
            <a:off x="548640" y="4521708"/>
            <a:ext cx="6766560" cy="397764"/>
          </a:xfrm>
          <a:prstGeom prst="rect">
            <a:avLst/>
          </a:prstGeom>
          <a:solidFill>
            <a:srgbClr val="FFFFFF"/>
          </a:solidFill>
          <a:ln w="9525">
            <a:solidFill>
              <a:srgbClr val="E4E7F0"/>
            </a:solidFill>
            <a:prstDash val="solid"/>
          </a:ln>
        </p:spPr>
      </p:sp>
      <p:sp>
        <p:nvSpPr>
          <p:cNvPr id="27" name="Text 25"/>
          <p:cNvSpPr txBox="1"/>
          <p:nvPr/>
        </p:nvSpPr>
        <p:spPr>
          <a:xfrm>
            <a:off x="731520" y="4521708"/>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D2, D3, D5, D6, D9, D10</a:t>
            </a:r>
            <a:endParaRPr lang="en-US" sz="1050" dirty="0"/>
          </a:p>
        </p:txBody>
      </p:sp>
      <p:sp>
        <p:nvSpPr>
          <p:cNvPr id="28" name="Text 26"/>
          <p:cNvSpPr txBox="1"/>
          <p:nvPr/>
        </p:nvSpPr>
        <p:spPr>
          <a:xfrm>
            <a:off x="5486400" y="4521708"/>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20.8</a:t>
            </a:r>
            <a:endParaRPr lang="en-US" sz="1150" dirty="0"/>
          </a:p>
        </p:txBody>
      </p:sp>
      <p:sp>
        <p:nvSpPr>
          <p:cNvPr id="29" name="Shape 27"/>
          <p:cNvSpPr/>
          <p:nvPr/>
        </p:nvSpPr>
        <p:spPr>
          <a:xfrm>
            <a:off x="548640" y="4919472"/>
            <a:ext cx="6766560" cy="397764"/>
          </a:xfrm>
          <a:prstGeom prst="rect">
            <a:avLst/>
          </a:prstGeom>
          <a:solidFill>
            <a:srgbClr val="F3F5FC"/>
          </a:solidFill>
          <a:ln w="9525">
            <a:solidFill>
              <a:srgbClr val="E4E7F0"/>
            </a:solidFill>
            <a:prstDash val="solid"/>
          </a:ln>
        </p:spPr>
      </p:sp>
      <p:sp>
        <p:nvSpPr>
          <p:cNvPr id="30" name="Text 28"/>
          <p:cNvSpPr txBox="1"/>
          <p:nvPr/>
        </p:nvSpPr>
        <p:spPr>
          <a:xfrm>
            <a:off x="731520" y="4919472"/>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D2, D3, D5, D6, D7, D9, D10</a:t>
            </a:r>
            <a:endParaRPr lang="en-US" sz="1050" dirty="0"/>
          </a:p>
        </p:txBody>
      </p:sp>
      <p:sp>
        <p:nvSpPr>
          <p:cNvPr id="31" name="Text 29"/>
          <p:cNvSpPr txBox="1"/>
          <p:nvPr/>
        </p:nvSpPr>
        <p:spPr>
          <a:xfrm>
            <a:off x="5486400" y="4919472"/>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18.8</a:t>
            </a:r>
            <a:endParaRPr lang="en-US" sz="1150" dirty="0"/>
          </a:p>
        </p:txBody>
      </p:sp>
      <p:sp>
        <p:nvSpPr>
          <p:cNvPr id="32" name="Shape 30"/>
          <p:cNvSpPr/>
          <p:nvPr/>
        </p:nvSpPr>
        <p:spPr>
          <a:xfrm>
            <a:off x="548640" y="5317236"/>
            <a:ext cx="6766560" cy="397764"/>
          </a:xfrm>
          <a:prstGeom prst="rect">
            <a:avLst/>
          </a:prstGeom>
          <a:solidFill>
            <a:srgbClr val="FFFFFF"/>
          </a:solidFill>
          <a:ln w="9525">
            <a:solidFill>
              <a:srgbClr val="E4E7F0"/>
            </a:solidFill>
            <a:prstDash val="solid"/>
          </a:ln>
        </p:spPr>
      </p:sp>
      <p:sp>
        <p:nvSpPr>
          <p:cNvPr id="33" name="Text 31"/>
          <p:cNvSpPr txBox="1"/>
          <p:nvPr/>
        </p:nvSpPr>
        <p:spPr>
          <a:xfrm>
            <a:off x="731520" y="5317236"/>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D1, D2, D3, D4, D5, D6, D7, D9, D10</a:t>
            </a:r>
            <a:endParaRPr lang="en-US" sz="1050" dirty="0"/>
          </a:p>
        </p:txBody>
      </p:sp>
      <p:sp>
        <p:nvSpPr>
          <p:cNvPr id="34" name="Text 32"/>
          <p:cNvSpPr txBox="1"/>
          <p:nvPr/>
        </p:nvSpPr>
        <p:spPr>
          <a:xfrm>
            <a:off x="5486400" y="5317236"/>
            <a:ext cx="1645920" cy="397764"/>
          </a:xfrm>
          <a:prstGeom prst="rect">
            <a:avLst/>
          </a:prstGeom>
          <a:noFill/>
          <a:ln/>
        </p:spPr>
        <p:txBody>
          <a:bodyPr wrap="square" lIns="0" tIns="0" rIns="0" bIns="0" rtlCol="0" anchor="ctr"/>
          <a:lstStyle/>
          <a:p>
            <a:pPr marL="0" indent="0" algn="r">
              <a:buNone/>
            </a:pPr>
            <a:r>
              <a:rPr lang="en-US" sz="1150" b="1" dirty="0">
                <a:solidFill>
                  <a:srgbClr val="1B1F2A"/>
                </a:solidFill>
                <a:latin typeface="Calibri" pitchFamily="34" charset="0"/>
                <a:ea typeface="Calibri" pitchFamily="34" charset="-122"/>
                <a:cs typeface="Calibri" pitchFamily="34" charset="-120"/>
              </a:rPr>
              <a:t>18.6</a:t>
            </a:r>
            <a:endParaRPr lang="en-US" sz="1150" dirty="0"/>
          </a:p>
        </p:txBody>
      </p:sp>
      <p:sp>
        <p:nvSpPr>
          <p:cNvPr id="35" name="Shape 33"/>
          <p:cNvSpPr/>
          <p:nvPr/>
        </p:nvSpPr>
        <p:spPr>
          <a:xfrm>
            <a:off x="548640" y="5715000"/>
            <a:ext cx="6766560" cy="397764"/>
          </a:xfrm>
          <a:prstGeom prst="rect">
            <a:avLst/>
          </a:prstGeom>
          <a:solidFill>
            <a:srgbClr val="F3F5FC"/>
          </a:solidFill>
          <a:ln w="9525">
            <a:solidFill>
              <a:srgbClr val="E4E7F0"/>
            </a:solidFill>
            <a:prstDash val="solid"/>
          </a:ln>
        </p:spPr>
      </p:sp>
      <p:sp>
        <p:nvSpPr>
          <p:cNvPr id="36" name="Text 34"/>
          <p:cNvSpPr txBox="1"/>
          <p:nvPr/>
        </p:nvSpPr>
        <p:spPr>
          <a:xfrm>
            <a:off x="731520" y="5715000"/>
            <a:ext cx="4937760" cy="397764"/>
          </a:xfrm>
          <a:prstGeom prst="rect">
            <a:avLst/>
          </a:prstGeom>
          <a:noFill/>
          <a:ln/>
        </p:spPr>
        <p:txBody>
          <a:bodyPr wrap="square" lIns="0" tIns="0" rIns="0" bIns="0" rtlCol="0" anchor="ctr"/>
          <a:lstStyle/>
          <a:p>
            <a:pPr marL="0" indent="0">
              <a:buNone/>
            </a:pPr>
            <a:r>
              <a:rPr lang="en-US" sz="1050" dirty="0">
                <a:solidFill>
                  <a:srgbClr val="1B1F2A"/>
                </a:solidFill>
                <a:latin typeface="Calibri" pitchFamily="34" charset="0"/>
                <a:ea typeface="Calibri" pitchFamily="34" charset="-122"/>
                <a:cs typeface="Calibri" pitchFamily="34" charset="-120"/>
              </a:rPr>
              <a:t>All 10 doors open</a:t>
            </a:r>
            <a:endParaRPr lang="en-US" sz="1050" dirty="0"/>
          </a:p>
        </p:txBody>
      </p:sp>
      <p:sp>
        <p:nvSpPr>
          <p:cNvPr id="37" name="Text 35"/>
          <p:cNvSpPr txBox="1"/>
          <p:nvPr/>
        </p:nvSpPr>
        <p:spPr>
          <a:xfrm>
            <a:off x="5486400" y="5715000"/>
            <a:ext cx="1645920" cy="397764"/>
          </a:xfrm>
          <a:prstGeom prst="rect">
            <a:avLst/>
          </a:prstGeom>
          <a:noFill/>
          <a:ln/>
        </p:spPr>
        <p:txBody>
          <a:bodyPr wrap="square" lIns="0" tIns="0" rIns="0" bIns="0" rtlCol="0" anchor="ctr"/>
          <a:lstStyle/>
          <a:p>
            <a:pPr marL="0" indent="0" algn="r">
              <a:buNone/>
            </a:pPr>
            <a:r>
              <a:rPr lang="en-US" sz="1150" b="1" dirty="0">
                <a:solidFill>
                  <a:srgbClr val="3FA66B"/>
                </a:solidFill>
                <a:latin typeface="Calibri" pitchFamily="34" charset="0"/>
                <a:ea typeface="Calibri" pitchFamily="34" charset="-122"/>
                <a:cs typeface="Calibri" pitchFamily="34" charset="-120"/>
              </a:rPr>
              <a:t>18.5</a:t>
            </a:r>
            <a:endParaRPr lang="en-US" sz="1150" dirty="0"/>
          </a:p>
        </p:txBody>
      </p:sp>
      <p:sp>
        <p:nvSpPr>
          <p:cNvPr id="38" name="Shape 36"/>
          <p:cNvSpPr/>
          <p:nvPr/>
        </p:nvSpPr>
        <p:spPr>
          <a:xfrm>
            <a:off x="7589520" y="1737360"/>
            <a:ext cx="4023360" cy="1874520"/>
          </a:xfrm>
          <a:prstGeom prst="roundRect">
            <a:avLst>
              <a:gd name="adj" fmla="val 3902"/>
            </a:avLst>
          </a:prstGeom>
          <a:solidFill>
            <a:srgbClr val="1E2761"/>
          </a:solidFill>
          <a:ln/>
        </p:spPr>
      </p:sp>
      <p:sp>
        <p:nvSpPr>
          <p:cNvPr id="39" name="Text 37"/>
          <p:cNvSpPr txBox="1"/>
          <p:nvPr/>
        </p:nvSpPr>
        <p:spPr>
          <a:xfrm>
            <a:off x="7863840" y="1938528"/>
            <a:ext cx="3474720" cy="548640"/>
          </a:xfrm>
          <a:prstGeom prst="rect">
            <a:avLst/>
          </a:prstGeom>
          <a:noFill/>
          <a:ln/>
        </p:spPr>
        <p:txBody>
          <a:bodyPr wrap="square" lIns="0" tIns="0" rIns="0" bIns="0" rtlCol="0" anchor="ctr"/>
          <a:lstStyle/>
          <a:p>
            <a:pPr marL="0" indent="0">
              <a:buNone/>
            </a:pPr>
            <a:r>
              <a:rPr lang="en-US" sz="2700" b="1" dirty="0">
                <a:solidFill>
                  <a:srgbClr val="E3A857"/>
                </a:solidFill>
                <a:latin typeface="Cambria" pitchFamily="34" charset="0"/>
                <a:ea typeface="Cambria" pitchFamily="34" charset="-122"/>
                <a:cs typeface="Cambria" pitchFamily="34" charset="-120"/>
              </a:rPr>
              <a:t>119.9 s → 18.5 s</a:t>
            </a:r>
            <a:endParaRPr lang="en-US" sz="2700" dirty="0"/>
          </a:p>
        </p:txBody>
      </p:sp>
      <p:sp>
        <p:nvSpPr>
          <p:cNvPr id="40" name="Text 38"/>
          <p:cNvSpPr txBox="1"/>
          <p:nvPr/>
        </p:nvSpPr>
        <p:spPr>
          <a:xfrm>
            <a:off x="7863840" y="2560320"/>
            <a:ext cx="3474720" cy="914400"/>
          </a:xfrm>
          <a:prstGeom prst="rect">
            <a:avLst/>
          </a:prstGeom>
          <a:noFill/>
          <a:ln/>
        </p:spPr>
        <p:txBody>
          <a:bodyPr wrap="square" lIns="0" tIns="0" rIns="0" bIns="0" rtlCol="0" anchor="ctr"/>
          <a:lstStyle/>
          <a:p>
            <a:pPr marL="0" indent="0">
              <a:lnSpc>
                <a:spcPct val="115000"/>
              </a:lnSpc>
              <a:buNone/>
            </a:pPr>
            <a:r>
              <a:rPr lang="en-US" sz="1250" dirty="0">
                <a:solidFill>
                  <a:srgbClr val="CADCFC"/>
                </a:solidFill>
                <a:latin typeface="Calibri" pitchFamily="34" charset="0"/>
                <a:ea typeface="Calibri" pitchFamily="34" charset="-122"/>
                <a:cs typeface="Calibri" pitchFamily="34" charset="-120"/>
              </a:rPr>
              <a:t>~84% reduction in evacuation time going from 1 door to all 10 doors open.</a:t>
            </a:r>
            <a:endParaRPr lang="en-US" sz="1250" dirty="0"/>
          </a:p>
        </p:txBody>
      </p:sp>
      <p:sp>
        <p:nvSpPr>
          <p:cNvPr id="41" name="Shape 39"/>
          <p:cNvSpPr/>
          <p:nvPr/>
        </p:nvSpPr>
        <p:spPr>
          <a:xfrm>
            <a:off x="7589520" y="3794760"/>
            <a:ext cx="4023360" cy="1737360"/>
          </a:xfrm>
          <a:prstGeom prst="roundRect">
            <a:avLst>
              <a:gd name="adj" fmla="val 4211"/>
            </a:avLst>
          </a:prstGeom>
          <a:solidFill>
            <a:srgbClr val="F3F5FC"/>
          </a:solidFill>
          <a:ln/>
        </p:spPr>
      </p:sp>
      <p:sp>
        <p:nvSpPr>
          <p:cNvPr id="42" name="Text 40"/>
          <p:cNvSpPr txBox="1"/>
          <p:nvPr/>
        </p:nvSpPr>
        <p:spPr>
          <a:xfrm>
            <a:off x="7863840" y="3950208"/>
            <a:ext cx="347472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Diminishing returns</a:t>
            </a:r>
            <a:endParaRPr lang="en-US" sz="1300" dirty="0"/>
          </a:p>
        </p:txBody>
      </p:sp>
      <p:sp>
        <p:nvSpPr>
          <p:cNvPr id="43" name="Text 41"/>
          <p:cNvSpPr txBox="1"/>
          <p:nvPr/>
        </p:nvSpPr>
        <p:spPr>
          <a:xfrm>
            <a:off x="7863840" y="4261104"/>
            <a:ext cx="3474720" cy="1188720"/>
          </a:xfrm>
          <a:prstGeom prst="rect">
            <a:avLst/>
          </a:prstGeom>
          <a:noFill/>
          <a:ln/>
        </p:spPr>
        <p:txBody>
          <a:bodyPr wrap="square" lIns="0" tIns="0" rIns="0" bIns="0" rtlCol="0" anchor="ctr"/>
          <a:lstStyle/>
          <a:p>
            <a:pPr marL="0" indent="0">
              <a:lnSpc>
                <a:spcPct val="115000"/>
              </a:lnSpc>
              <a:buNone/>
            </a:pPr>
            <a:r>
              <a:rPr lang="en-US" sz="1150" dirty="0">
                <a:solidFill>
                  <a:srgbClr val="1B1F2A"/>
                </a:solidFill>
                <a:latin typeface="Calibri" pitchFamily="34" charset="0"/>
                <a:ea typeface="Calibri" pitchFamily="34" charset="-122"/>
                <a:cs typeface="Calibri" pitchFamily="34" charset="-120"/>
              </a:rPr>
              <a:t>Each new door helps less than the last — the curve flattens sharply after ~6 doors, showing that a well-placed subset of doors captures most of the benefit.</a:t>
            </a:r>
            <a:endParaRPr lang="en-US" sz="1150" dirty="0"/>
          </a:p>
        </p:txBody>
      </p:sp>
      <p:sp>
        <p:nvSpPr>
          <p:cNvPr id="44" name="Text 4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45" name="Text 43"/>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04  ·  RESULTS</a:t>
            </a:r>
            <a:endParaRPr lang="en-US" sz="1300" dirty="0"/>
          </a:p>
        </p:txBody>
      </p:sp>
      <p:sp>
        <p:nvSpPr>
          <p:cNvPr id="3" name="Text 1"/>
          <p:cNvSpPr txBox="1"/>
          <p:nvPr/>
        </p:nvSpPr>
        <p:spPr>
          <a:xfrm>
            <a:off x="548640" y="713232"/>
            <a:ext cx="105156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Evacuation curves and time trend</a:t>
            </a:r>
            <a:endParaRPr lang="en-US" sz="2600" dirty="0"/>
          </a:p>
        </p:txBody>
      </p:sp>
      <p:sp>
        <p:nvSpPr>
          <p:cNvPr id="4" name="Shape 2"/>
          <p:cNvSpPr/>
          <p:nvPr/>
        </p:nvSpPr>
        <p:spPr>
          <a:xfrm>
            <a:off x="548640" y="1417320"/>
            <a:ext cx="11064240" cy="4709160"/>
          </a:xfrm>
          <a:prstGeom prst="roundRect">
            <a:avLst>
              <a:gd name="adj" fmla="val 1553"/>
            </a:avLst>
          </a:prstGeom>
          <a:solidFill>
            <a:srgbClr val="141B47"/>
          </a:solidFill>
          <a:ln/>
        </p:spPr>
      </p:sp>
      <p:pic>
        <p:nvPicPr>
          <p:cNvPr id="5" name="Image 0" descr="graphs.png"/>
          <p:cNvPicPr>
            <a:picLocks noChangeAspect="1"/>
          </p:cNvPicPr>
          <p:nvPr/>
        </p:nvPicPr>
        <p:blipFill>
          <a:blip r:embed="rId3"/>
          <a:stretch>
            <a:fillRect/>
          </a:stretch>
        </p:blipFill>
        <p:spPr>
          <a:xfrm>
            <a:off x="907953" y="1691640"/>
            <a:ext cx="5960225" cy="3749040"/>
          </a:xfrm>
          <a:prstGeom prst="rect">
            <a:avLst/>
          </a:prstGeom>
        </p:spPr>
      </p:pic>
      <p:sp>
        <p:nvSpPr>
          <p:cNvPr id="6" name="Text 3"/>
          <p:cNvSpPr txBox="1"/>
          <p:nvPr/>
        </p:nvSpPr>
        <p:spPr>
          <a:xfrm>
            <a:off x="822960" y="5623560"/>
            <a:ext cx="10515600" cy="365760"/>
          </a:xfrm>
          <a:prstGeom prst="rect">
            <a:avLst/>
          </a:prstGeom>
          <a:noFill/>
          <a:ln/>
        </p:spPr>
        <p:txBody>
          <a:bodyPr wrap="square" lIns="0" tIns="0" rIns="0" bIns="0"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Left: people remaining inside vs. time, for each door combination. Right: evacuation time vs. number of doors open.</a:t>
            </a:r>
            <a:endParaRPr lang="en-US" sz="1050" dirty="0"/>
          </a:p>
        </p:txBody>
      </p:sp>
      <p:sp>
        <p:nvSpPr>
          <p:cNvPr id="7" name="Text 4"/>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8" name="Text 5"/>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7</a:t>
            </a:r>
            <a:endParaRPr lang="en-US" sz="1000" dirty="0"/>
          </a:p>
        </p:txBody>
      </p:sp>
      <p:sp>
        <p:nvSpPr>
          <p:cNvPr id="10" name="Text 3">
            <a:extLst>
              <a:ext uri="{FF2B5EF4-FFF2-40B4-BE49-F238E27FC236}">
                <a16:creationId xmlns:a16="http://schemas.microsoft.com/office/drawing/2014/main" id="{CC1D7F45-AB65-3F9B-2378-DAB09008B2AC}"/>
              </a:ext>
            </a:extLst>
          </p:cNvPr>
          <p:cNvSpPr txBox="1"/>
          <p:nvPr/>
        </p:nvSpPr>
        <p:spPr>
          <a:xfrm>
            <a:off x="7227491" y="2099698"/>
            <a:ext cx="4056556" cy="3066661"/>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050" dirty="0">
                <a:solidFill>
                  <a:schemeClr val="bg1"/>
                </a:solidFill>
              </a:rPr>
              <a:t>All 10 configurations evacuate well within the 1500 s limit (119.9 s → 18.5 s).</a:t>
            </a:r>
          </a:p>
          <a:p>
            <a:pPr marL="171450" lvl="0" indent="-171450">
              <a:buFont typeface="Arial" panose="020B0604020202020204" pitchFamily="34" charset="0"/>
              <a:buChar char="•"/>
            </a:pPr>
            <a:endParaRPr lang="en-IN" sz="1050" dirty="0">
              <a:solidFill>
                <a:schemeClr val="bg1"/>
              </a:solidFill>
            </a:endParaRPr>
          </a:p>
          <a:p>
            <a:pPr marL="171450" lvl="0" indent="-171450">
              <a:buFont typeface="Arial" panose="020B0604020202020204" pitchFamily="34" charset="0"/>
              <a:buChar char="•"/>
            </a:pPr>
            <a:r>
              <a:rPr lang="en-IN" sz="1050" dirty="0">
                <a:solidFill>
                  <a:schemeClr val="bg1"/>
                </a:solidFill>
              </a:rPr>
              <a:t>Curves start flat (doors running at full capacity) then drop sharply as crowding clears — most visible in the single-door (D1) case, which stays capacity-limited almost the whole time.</a:t>
            </a:r>
          </a:p>
          <a:p>
            <a:pPr marL="171450" lvl="0" indent="-171450">
              <a:buFont typeface="Arial" panose="020B0604020202020204" pitchFamily="34" charset="0"/>
              <a:buChar char="•"/>
            </a:pPr>
            <a:endParaRPr lang="en-IN" sz="1050" dirty="0">
              <a:solidFill>
                <a:schemeClr val="bg1"/>
              </a:solidFill>
            </a:endParaRPr>
          </a:p>
          <a:p>
            <a:pPr marL="171450" lvl="0" indent="-171450">
              <a:buFont typeface="Arial" panose="020B0604020202020204" pitchFamily="34" charset="0"/>
              <a:buChar char="•"/>
            </a:pPr>
            <a:r>
              <a:rPr lang="en-IN" sz="1050" dirty="0">
                <a:solidFill>
                  <a:schemeClr val="bg1"/>
                </a:solidFill>
              </a:rPr>
              <a:t>Evacuation time falls steeply from 1→6 doors, then flattens — 8→10 doors barely helps (18.8 s → 18.5 s).</a:t>
            </a:r>
          </a:p>
          <a:p>
            <a:pPr marL="171450" lvl="0" indent="-171450">
              <a:buFont typeface="Arial" panose="020B0604020202020204" pitchFamily="34" charset="0"/>
              <a:buChar char="•"/>
            </a:pPr>
            <a:endParaRPr lang="en-IN" sz="1050" dirty="0">
              <a:solidFill>
                <a:schemeClr val="bg1"/>
              </a:solidFill>
            </a:endParaRPr>
          </a:p>
          <a:p>
            <a:pPr marL="171450" lvl="0" indent="-171450">
              <a:buFont typeface="Arial" panose="020B0604020202020204" pitchFamily="34" charset="0"/>
              <a:buChar char="•"/>
            </a:pPr>
            <a:r>
              <a:rPr lang="en-IN" sz="1050" dirty="0">
                <a:solidFill>
                  <a:schemeClr val="bg1"/>
                </a:solidFill>
              </a:rPr>
              <a:t>Shows a shift from </a:t>
            </a:r>
            <a:r>
              <a:rPr lang="en-IN" sz="1050" b="1" dirty="0">
                <a:solidFill>
                  <a:schemeClr val="bg1"/>
                </a:solidFill>
              </a:rPr>
              <a:t>door-limited</a:t>
            </a:r>
            <a:r>
              <a:rPr lang="en-IN" sz="1050" dirty="0">
                <a:solidFill>
                  <a:schemeClr val="bg1"/>
                </a:solidFill>
              </a:rPr>
              <a:t> (few doors: capacity is the bottleneck) to </a:t>
            </a:r>
            <a:r>
              <a:rPr lang="en-IN" sz="1050" b="1" dirty="0">
                <a:solidFill>
                  <a:schemeClr val="bg1"/>
                </a:solidFill>
              </a:rPr>
              <a:t>travel-time-limited</a:t>
            </a:r>
            <a:r>
              <a:rPr lang="en-IN" sz="1050" dirty="0">
                <a:solidFill>
                  <a:schemeClr val="bg1"/>
                </a:solidFill>
              </a:rPr>
              <a:t> (many doors: walking distance is the bottleneck).</a:t>
            </a:r>
          </a:p>
          <a:p>
            <a:pPr marL="171450" lvl="0" indent="-171450">
              <a:buFont typeface="Arial" panose="020B0604020202020204" pitchFamily="34" charset="0"/>
              <a:buChar char="•"/>
            </a:pPr>
            <a:endParaRPr lang="en-IN" sz="1050" dirty="0">
              <a:solidFill>
                <a:schemeClr val="bg1"/>
              </a:solidFill>
            </a:endParaRPr>
          </a:p>
          <a:p>
            <a:pPr marL="171450" lvl="0" indent="-171450">
              <a:buFont typeface="Arial" panose="020B0604020202020204" pitchFamily="34" charset="0"/>
              <a:buChar char="•"/>
            </a:pPr>
            <a:r>
              <a:rPr lang="en-IN" sz="1050" dirty="0">
                <a:solidFill>
                  <a:schemeClr val="bg1"/>
                </a:solidFill>
              </a:rPr>
              <a:t>Key takeaway: the first few doors, especially spread across different walls, give the biggest safety gain; extra doors beyond that give diminishing returns.</a:t>
            </a:r>
          </a:p>
          <a:p>
            <a:pPr marL="0" indent="0">
              <a:buNone/>
            </a:pP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05  ·  VIDEO DEMONSTRATION</a:t>
            </a:r>
            <a:endParaRPr lang="en-US" sz="1300" dirty="0"/>
          </a:p>
        </p:txBody>
      </p:sp>
      <p:sp>
        <p:nvSpPr>
          <p:cNvPr id="3" name="Text 1"/>
          <p:cNvSpPr txBox="1"/>
          <p:nvPr/>
        </p:nvSpPr>
        <p:spPr>
          <a:xfrm>
            <a:off x="548640" y="713232"/>
            <a:ext cx="105156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Density videos (per case)</a:t>
            </a:r>
            <a:endParaRPr lang="en-US" sz="2600" dirty="0"/>
          </a:p>
        </p:txBody>
      </p:sp>
      <p:sp>
        <p:nvSpPr>
          <p:cNvPr id="4" name="Text 2"/>
          <p:cNvSpPr txBox="1"/>
          <p:nvPr/>
        </p:nvSpPr>
        <p:spPr>
          <a:xfrm>
            <a:off x="548640" y="1188720"/>
            <a:ext cx="10515600" cy="320040"/>
          </a:xfrm>
          <a:prstGeom prst="rect">
            <a:avLst/>
          </a:prstGeom>
          <a:noFill/>
          <a:ln/>
        </p:spPr>
        <p:txBody>
          <a:bodyPr wrap="square" lIns="0" tIns="0" rIns="0" bIns="0" rtlCol="0" anchor="ctr"/>
          <a:lstStyle/>
          <a:p>
            <a:pPr marL="0" indent="0">
              <a:buNone/>
            </a:pPr>
            <a:r>
              <a:rPr lang="en-US" sz="1200" i="1" dirty="0">
                <a:solidFill>
                  <a:srgbClr val="5B6178"/>
                </a:solidFill>
                <a:latin typeface="Calibri" pitchFamily="34" charset="0"/>
                <a:ea typeface="Calibri" pitchFamily="34" charset="-122"/>
                <a:cs typeface="Calibri" pitchFamily="34" charset="-120"/>
              </a:rPr>
              <a:t>[ Insert Density_Doors_*.mp4 and Velocity_Doors_*.mp4 here before presenting ]</a:t>
            </a:r>
            <a:endParaRPr lang="en-US" sz="1200" dirty="0"/>
          </a:p>
        </p:txBody>
      </p:sp>
      <p:sp>
        <p:nvSpPr>
          <p:cNvPr id="6" name="Shape 4"/>
          <p:cNvSpPr/>
          <p:nvPr/>
        </p:nvSpPr>
        <p:spPr>
          <a:xfrm>
            <a:off x="2697480" y="2331720"/>
            <a:ext cx="914400" cy="914400"/>
          </a:xfrm>
          <a:prstGeom prst="ellipse">
            <a:avLst/>
          </a:prstGeom>
          <a:solidFill>
            <a:srgbClr val="141B47"/>
          </a:solidFill>
          <a:ln w="19050">
            <a:solidFill>
              <a:srgbClr val="E3A857"/>
            </a:solidFill>
            <a:prstDash val="solid"/>
          </a:ln>
        </p:spPr>
      </p:sp>
      <p:sp>
        <p:nvSpPr>
          <p:cNvPr id="7" name="Shape 5"/>
          <p:cNvSpPr/>
          <p:nvPr/>
        </p:nvSpPr>
        <p:spPr>
          <a:xfrm rot="5400000">
            <a:off x="2999232" y="2569464"/>
            <a:ext cx="438912" cy="438912"/>
          </a:xfrm>
          <a:prstGeom prst="triangle">
            <a:avLst/>
          </a:prstGeom>
          <a:solidFill>
            <a:srgbClr val="E3A857"/>
          </a:solidFill>
          <a:ln/>
        </p:spPr>
      </p:sp>
      <p:sp>
        <p:nvSpPr>
          <p:cNvPr id="8" name="Text 6"/>
          <p:cNvSpPr txBox="1"/>
          <p:nvPr/>
        </p:nvSpPr>
        <p:spPr>
          <a:xfrm>
            <a:off x="868680" y="3474720"/>
            <a:ext cx="4572000" cy="320040"/>
          </a:xfrm>
          <a:prstGeom prst="rect">
            <a:avLst/>
          </a:prstGeom>
          <a:noFill/>
          <a:ln/>
        </p:spPr>
        <p:txBody>
          <a:bodyPr wrap="square" lIns="0" tIns="0" rIns="0" bIns="0" rtlCol="0" anchor="ctr"/>
          <a:lstStyle/>
          <a:p>
            <a:pPr marL="0" indent="0" algn="ctr">
              <a:buNone/>
            </a:pPr>
            <a:r>
              <a:rPr lang="en-US" sz="1500" b="1" dirty="0">
                <a:solidFill>
                  <a:srgbClr val="E3A857"/>
                </a:solidFill>
                <a:latin typeface="Calibri" pitchFamily="34" charset="0"/>
                <a:ea typeface="Calibri" pitchFamily="34" charset="-122"/>
                <a:cs typeface="Calibri" pitchFamily="34" charset="-120"/>
              </a:rPr>
              <a:t>Density video</a:t>
            </a:r>
            <a:endParaRPr lang="en-US" sz="1500" dirty="0"/>
          </a:p>
        </p:txBody>
      </p:sp>
      <p:sp>
        <p:nvSpPr>
          <p:cNvPr id="9" name="Text 7"/>
          <p:cNvSpPr txBox="1"/>
          <p:nvPr/>
        </p:nvSpPr>
        <p:spPr>
          <a:xfrm>
            <a:off x="2434357" y="4808537"/>
            <a:ext cx="6949440" cy="1371600"/>
          </a:xfrm>
          <a:prstGeom prst="rect">
            <a:avLst/>
          </a:prstGeom>
          <a:noFill/>
          <a:ln/>
        </p:spPr>
        <p:txBody>
          <a:bodyPr wrap="square" lIns="0" tIns="0" rIns="0" bIns="0" rtlCol="0" anchor="ctr"/>
          <a:lstStyle/>
          <a:p>
            <a:pPr marL="0" indent="0" algn="ctr">
              <a:lnSpc>
                <a:spcPct val="125000"/>
              </a:lnSpc>
              <a:buNone/>
            </a:pPr>
            <a:r>
              <a:rPr lang="en-US" sz="1200" dirty="0">
                <a:latin typeface="Calibri" pitchFamily="34" charset="0"/>
                <a:ea typeface="Calibri" pitchFamily="34" charset="-122"/>
                <a:cs typeface="Calibri" pitchFamily="34" charset="-120"/>
              </a:rPr>
              <a:t>A color map of crowd density ρ(x,y,t) over the whole floor, updated every 0.5 s. Warm colors mark congestion building up near doors; the stage stays empty throughout the run.</a:t>
            </a:r>
            <a:endParaRPr lang="en-US" sz="1200" dirty="0"/>
          </a:p>
        </p:txBody>
      </p:sp>
      <p:sp>
        <p:nvSpPr>
          <p:cNvPr id="11" name="Shape 9"/>
          <p:cNvSpPr/>
          <p:nvPr/>
        </p:nvSpPr>
        <p:spPr>
          <a:xfrm>
            <a:off x="8366760" y="2331720"/>
            <a:ext cx="914400" cy="914400"/>
          </a:xfrm>
          <a:prstGeom prst="ellipse">
            <a:avLst/>
          </a:prstGeom>
          <a:solidFill>
            <a:srgbClr val="141B47"/>
          </a:solidFill>
          <a:ln w="19050">
            <a:solidFill>
              <a:srgbClr val="E3A857"/>
            </a:solidFill>
            <a:prstDash val="solid"/>
          </a:ln>
        </p:spPr>
      </p:sp>
      <p:sp>
        <p:nvSpPr>
          <p:cNvPr id="12" name="Shape 10"/>
          <p:cNvSpPr/>
          <p:nvPr/>
        </p:nvSpPr>
        <p:spPr>
          <a:xfrm rot="5400000">
            <a:off x="8668512" y="2569464"/>
            <a:ext cx="438912" cy="438912"/>
          </a:xfrm>
          <a:prstGeom prst="triangle">
            <a:avLst/>
          </a:prstGeom>
          <a:solidFill>
            <a:srgbClr val="E3A857"/>
          </a:solidFill>
          <a:ln/>
        </p:spPr>
      </p:sp>
      <p:sp>
        <p:nvSpPr>
          <p:cNvPr id="13" name="Text 11"/>
          <p:cNvSpPr txBox="1"/>
          <p:nvPr/>
        </p:nvSpPr>
        <p:spPr>
          <a:xfrm>
            <a:off x="6537960" y="3474720"/>
            <a:ext cx="4572000" cy="320040"/>
          </a:xfrm>
          <a:prstGeom prst="rect">
            <a:avLst/>
          </a:prstGeom>
          <a:noFill/>
          <a:ln/>
        </p:spPr>
        <p:txBody>
          <a:bodyPr wrap="square" lIns="0" tIns="0" rIns="0" bIns="0" rtlCol="0" anchor="ctr"/>
          <a:lstStyle/>
          <a:p>
            <a:pPr marL="0" indent="0" algn="ctr">
              <a:buNone/>
            </a:pPr>
            <a:r>
              <a:rPr lang="en-US" sz="1500" b="1" dirty="0">
                <a:solidFill>
                  <a:srgbClr val="E3A857"/>
                </a:solidFill>
                <a:latin typeface="Calibri" pitchFamily="34" charset="0"/>
                <a:ea typeface="Calibri" pitchFamily="34" charset="-122"/>
                <a:cs typeface="Calibri" pitchFamily="34" charset="-120"/>
              </a:rPr>
              <a:t>Velocity video</a:t>
            </a:r>
            <a:endParaRPr lang="en-US" sz="1500" dirty="0"/>
          </a:p>
        </p:txBody>
      </p:sp>
      <p:sp>
        <p:nvSpPr>
          <p:cNvPr id="15" name="Shape 13"/>
          <p:cNvSpPr/>
          <p:nvPr/>
        </p:nvSpPr>
        <p:spPr>
          <a:xfrm>
            <a:off x="548640" y="5760720"/>
            <a:ext cx="11064240" cy="685800"/>
          </a:xfrm>
          <a:prstGeom prst="roundRect">
            <a:avLst>
              <a:gd name="adj" fmla="val 9333"/>
            </a:avLst>
          </a:prstGeom>
          <a:solidFill>
            <a:srgbClr val="F3F5FC"/>
          </a:solidFill>
          <a:ln/>
        </p:spPr>
      </p:sp>
      <p:sp>
        <p:nvSpPr>
          <p:cNvPr id="16" name="Text 14"/>
          <p:cNvSpPr txBox="1"/>
          <p:nvPr/>
        </p:nvSpPr>
        <p:spPr>
          <a:xfrm>
            <a:off x="822960" y="5760720"/>
            <a:ext cx="10515600" cy="685800"/>
          </a:xfrm>
          <a:prstGeom prst="rect">
            <a:avLst/>
          </a:prstGeom>
          <a:noFill/>
          <a:ln/>
        </p:spPr>
        <p:txBody>
          <a:bodyPr wrap="square" lIns="0" tIns="0" rIns="0" bIns="0" rtlCol="0" anchor="ctr"/>
          <a:lstStyle/>
          <a:p>
            <a:pPr marL="0" indent="0">
              <a:buNone/>
            </a:pPr>
            <a:r>
              <a:rPr lang="en-US" sz="1200" dirty="0">
                <a:solidFill>
                  <a:srgbClr val="1B1F2A"/>
                </a:solidFill>
                <a:latin typeface="Calibri" pitchFamily="34" charset="0"/>
                <a:ea typeface="Calibri" pitchFamily="34" charset="-122"/>
                <a:cs typeface="Calibri" pitchFamily="34" charset="-120"/>
              </a:rPr>
              <a:t>Ten pairs of videos are generated in total — one density + one velocity video for every door combination in the door-opening sequence.</a:t>
            </a:r>
            <a:endParaRPr lang="en-US" sz="1200" dirty="0"/>
          </a:p>
        </p:txBody>
      </p:sp>
      <p:sp>
        <p:nvSpPr>
          <p:cNvPr id="17" name="Text 15"/>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18" name="Text 16"/>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8</a:t>
            </a:r>
            <a:endParaRPr lang="en-US" sz="1000" dirty="0"/>
          </a:p>
        </p:txBody>
      </p:sp>
      <p:pic>
        <p:nvPicPr>
          <p:cNvPr id="20" name="Density_Doors_1_2_5_6_9_10">
            <a:hlinkClick r:id="" action="ppaction://media"/>
            <a:extLst>
              <a:ext uri="{FF2B5EF4-FFF2-40B4-BE49-F238E27FC236}">
                <a16:creationId xmlns:a16="http://schemas.microsoft.com/office/drawing/2014/main" id="{AD3EDEF1-7177-2D82-EBD2-C2A48574C2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11322" y="1188720"/>
            <a:ext cx="10485437" cy="4008437"/>
          </a:xfrm>
          <a:prstGeom prst="rect">
            <a:avLst/>
          </a:prstGeom>
        </p:spPr>
      </p:pic>
    </p:spTree>
    <p:extLst>
      <p:ext uri="{BB962C8B-B14F-4D97-AF65-F5344CB8AC3E}">
        <p14:creationId xmlns:p14="http://schemas.microsoft.com/office/powerpoint/2010/main" val="1506444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0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05  ·  VIDEO DEMONSTRATION</a:t>
            </a:r>
            <a:endParaRPr lang="en-US" sz="1300" dirty="0"/>
          </a:p>
        </p:txBody>
      </p:sp>
      <p:sp>
        <p:nvSpPr>
          <p:cNvPr id="3" name="Text 1"/>
          <p:cNvSpPr txBox="1"/>
          <p:nvPr/>
        </p:nvSpPr>
        <p:spPr>
          <a:xfrm>
            <a:off x="548640" y="713232"/>
            <a:ext cx="105156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Velocity videos (per case)</a:t>
            </a:r>
            <a:endParaRPr lang="en-US" sz="2600" dirty="0"/>
          </a:p>
        </p:txBody>
      </p:sp>
      <p:sp>
        <p:nvSpPr>
          <p:cNvPr id="4" name="Text 2"/>
          <p:cNvSpPr txBox="1"/>
          <p:nvPr/>
        </p:nvSpPr>
        <p:spPr>
          <a:xfrm>
            <a:off x="548640" y="1188720"/>
            <a:ext cx="10515600" cy="320040"/>
          </a:xfrm>
          <a:prstGeom prst="rect">
            <a:avLst/>
          </a:prstGeom>
          <a:noFill/>
          <a:ln/>
        </p:spPr>
        <p:txBody>
          <a:bodyPr wrap="square" lIns="0" tIns="0" rIns="0" bIns="0" rtlCol="0" anchor="ctr"/>
          <a:lstStyle/>
          <a:p>
            <a:pPr marL="0" indent="0">
              <a:buNone/>
            </a:pPr>
            <a:r>
              <a:rPr lang="en-US" sz="1200" i="1" dirty="0">
                <a:solidFill>
                  <a:srgbClr val="5B6178"/>
                </a:solidFill>
                <a:latin typeface="Calibri" pitchFamily="34" charset="0"/>
                <a:ea typeface="Calibri" pitchFamily="34" charset="-122"/>
                <a:cs typeface="Calibri" pitchFamily="34" charset="-120"/>
              </a:rPr>
              <a:t>[ Insert Density_Doors_*.mp4 and Velocity_Doors_*.mp4 here before presenting ]</a:t>
            </a:r>
            <a:endParaRPr lang="en-US" sz="1200" dirty="0"/>
          </a:p>
        </p:txBody>
      </p:sp>
      <p:sp>
        <p:nvSpPr>
          <p:cNvPr id="11" name="Shape 9"/>
          <p:cNvSpPr/>
          <p:nvPr/>
        </p:nvSpPr>
        <p:spPr>
          <a:xfrm>
            <a:off x="8366760" y="2331720"/>
            <a:ext cx="914400" cy="914400"/>
          </a:xfrm>
          <a:prstGeom prst="ellipse">
            <a:avLst/>
          </a:prstGeom>
          <a:solidFill>
            <a:srgbClr val="141B47"/>
          </a:solidFill>
          <a:ln w="19050">
            <a:solidFill>
              <a:srgbClr val="E3A857"/>
            </a:solidFill>
            <a:prstDash val="solid"/>
          </a:ln>
        </p:spPr>
      </p:sp>
      <p:sp>
        <p:nvSpPr>
          <p:cNvPr id="12" name="Shape 10"/>
          <p:cNvSpPr/>
          <p:nvPr/>
        </p:nvSpPr>
        <p:spPr>
          <a:xfrm rot="5400000">
            <a:off x="8668512" y="2569464"/>
            <a:ext cx="438912" cy="438912"/>
          </a:xfrm>
          <a:prstGeom prst="triangle">
            <a:avLst/>
          </a:prstGeom>
          <a:solidFill>
            <a:srgbClr val="E3A857"/>
          </a:solidFill>
          <a:ln/>
        </p:spPr>
      </p:sp>
      <p:sp>
        <p:nvSpPr>
          <p:cNvPr id="13" name="Text 11"/>
          <p:cNvSpPr txBox="1"/>
          <p:nvPr/>
        </p:nvSpPr>
        <p:spPr>
          <a:xfrm>
            <a:off x="6537960" y="3474720"/>
            <a:ext cx="4572000" cy="320040"/>
          </a:xfrm>
          <a:prstGeom prst="rect">
            <a:avLst/>
          </a:prstGeom>
          <a:noFill/>
          <a:ln/>
        </p:spPr>
        <p:txBody>
          <a:bodyPr wrap="square" lIns="0" tIns="0" rIns="0" bIns="0" rtlCol="0" anchor="ctr"/>
          <a:lstStyle/>
          <a:p>
            <a:pPr marL="0" indent="0" algn="ctr">
              <a:buNone/>
            </a:pPr>
            <a:r>
              <a:rPr lang="en-US" sz="1500" b="1" dirty="0">
                <a:solidFill>
                  <a:srgbClr val="E3A857"/>
                </a:solidFill>
                <a:latin typeface="Calibri" pitchFamily="34" charset="0"/>
                <a:ea typeface="Calibri" pitchFamily="34" charset="-122"/>
                <a:cs typeface="Calibri" pitchFamily="34" charset="-120"/>
              </a:rPr>
              <a:t>Velocity video</a:t>
            </a:r>
            <a:endParaRPr lang="en-US" sz="1500" dirty="0"/>
          </a:p>
        </p:txBody>
      </p:sp>
      <p:sp>
        <p:nvSpPr>
          <p:cNvPr id="14" name="Text 12"/>
          <p:cNvSpPr txBox="1"/>
          <p:nvPr/>
        </p:nvSpPr>
        <p:spPr>
          <a:xfrm>
            <a:off x="1334278" y="4732020"/>
            <a:ext cx="9647853" cy="1371600"/>
          </a:xfrm>
          <a:prstGeom prst="rect">
            <a:avLst/>
          </a:prstGeom>
          <a:noFill/>
          <a:ln/>
        </p:spPr>
        <p:txBody>
          <a:bodyPr wrap="square" lIns="0" tIns="0" rIns="0" bIns="0" rtlCol="0" anchor="ctr"/>
          <a:lstStyle/>
          <a:p>
            <a:pPr marL="0" indent="0" algn="ctr">
              <a:lnSpc>
                <a:spcPct val="125000"/>
              </a:lnSpc>
              <a:buNone/>
            </a:pPr>
            <a:r>
              <a:rPr lang="en-US" sz="1200" dirty="0">
                <a:latin typeface="Calibri" pitchFamily="34" charset="0"/>
                <a:ea typeface="Calibri" pitchFamily="34" charset="-122"/>
                <a:cs typeface="Calibri" pitchFamily="34" charset="-120"/>
              </a:rPr>
              <a:t>Walking speed (color) and direction (arrows) at each point, showing people re-routing toward the nearest open door as queues form near doors and clear once capacity allows.</a:t>
            </a:r>
            <a:endParaRPr lang="en-US" sz="1200" dirty="0"/>
          </a:p>
        </p:txBody>
      </p:sp>
      <p:sp>
        <p:nvSpPr>
          <p:cNvPr id="15" name="Shape 13"/>
          <p:cNvSpPr/>
          <p:nvPr/>
        </p:nvSpPr>
        <p:spPr>
          <a:xfrm>
            <a:off x="548640" y="5760720"/>
            <a:ext cx="11064240" cy="685800"/>
          </a:xfrm>
          <a:prstGeom prst="roundRect">
            <a:avLst>
              <a:gd name="adj" fmla="val 9333"/>
            </a:avLst>
          </a:prstGeom>
          <a:solidFill>
            <a:srgbClr val="F3F5FC"/>
          </a:solidFill>
          <a:ln/>
        </p:spPr>
      </p:sp>
      <p:sp>
        <p:nvSpPr>
          <p:cNvPr id="16" name="Text 14"/>
          <p:cNvSpPr txBox="1"/>
          <p:nvPr/>
        </p:nvSpPr>
        <p:spPr>
          <a:xfrm>
            <a:off x="822960" y="5760720"/>
            <a:ext cx="10515600" cy="685800"/>
          </a:xfrm>
          <a:prstGeom prst="rect">
            <a:avLst/>
          </a:prstGeom>
          <a:noFill/>
          <a:ln/>
        </p:spPr>
        <p:txBody>
          <a:bodyPr wrap="square" lIns="0" tIns="0" rIns="0" bIns="0" rtlCol="0" anchor="ctr"/>
          <a:lstStyle/>
          <a:p>
            <a:pPr marL="0" indent="0">
              <a:buNone/>
            </a:pPr>
            <a:r>
              <a:rPr lang="en-US" sz="1200" dirty="0">
                <a:solidFill>
                  <a:srgbClr val="1B1F2A"/>
                </a:solidFill>
                <a:latin typeface="Calibri" pitchFamily="34" charset="0"/>
                <a:ea typeface="Calibri" pitchFamily="34" charset="-122"/>
                <a:cs typeface="Calibri" pitchFamily="34" charset="-120"/>
              </a:rPr>
              <a:t>Ten pairs of videos are generated in total — one density + one velocity video for every door combination in the door-opening sequence.</a:t>
            </a:r>
            <a:endParaRPr lang="en-US" sz="1200" dirty="0"/>
          </a:p>
        </p:txBody>
      </p:sp>
      <p:sp>
        <p:nvSpPr>
          <p:cNvPr id="17" name="Text 15"/>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18" name="Text 16"/>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8</a:t>
            </a:r>
            <a:endParaRPr lang="en-US" sz="1000" dirty="0"/>
          </a:p>
        </p:txBody>
      </p:sp>
      <p:pic>
        <p:nvPicPr>
          <p:cNvPr id="22" name="Velocity_Doors_1_2_5_6_9_10">
            <a:hlinkClick r:id="" action="ppaction://media"/>
            <a:extLst>
              <a:ext uri="{FF2B5EF4-FFF2-40B4-BE49-F238E27FC236}">
                <a16:creationId xmlns:a16="http://schemas.microsoft.com/office/drawing/2014/main" id="{857DC322-4F6C-299B-1045-6C95422BF3E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93427" y="1289305"/>
            <a:ext cx="10485437" cy="38611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0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2"/>
                </p:tgtEl>
              </p:cMediaNode>
            </p:video>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06  ·  KEY OBSERVATIONS</a:t>
            </a:r>
            <a:endParaRPr lang="en-US" sz="1300" dirty="0"/>
          </a:p>
        </p:txBody>
      </p:sp>
      <p:sp>
        <p:nvSpPr>
          <p:cNvPr id="3" name="Text 1"/>
          <p:cNvSpPr txBox="1"/>
          <p:nvPr/>
        </p:nvSpPr>
        <p:spPr>
          <a:xfrm>
            <a:off x="548640" y="713232"/>
            <a:ext cx="10515600" cy="548640"/>
          </a:xfrm>
          <a:prstGeom prst="rect">
            <a:avLst/>
          </a:prstGeom>
          <a:noFill/>
          <a:ln/>
        </p:spPr>
        <p:txBody>
          <a:bodyPr wrap="square" lIns="0" tIns="0" rIns="0" bIns="0" rtlCol="0" anchor="ctr"/>
          <a:lstStyle/>
          <a:p>
            <a:pPr marL="0" indent="0">
              <a:buNone/>
            </a:pPr>
            <a:r>
              <a:rPr lang="en-US" sz="2600" b="1" dirty="0">
                <a:solidFill>
                  <a:srgbClr val="1B1F2A"/>
                </a:solidFill>
                <a:latin typeface="Cambria" pitchFamily="34" charset="0"/>
                <a:ea typeface="Cambria" pitchFamily="34" charset="-122"/>
                <a:cs typeface="Cambria" pitchFamily="34" charset="-120"/>
              </a:rPr>
              <a:t>Important points from this stage</a:t>
            </a:r>
            <a:endParaRPr lang="en-US" sz="2600" dirty="0"/>
          </a:p>
        </p:txBody>
      </p:sp>
      <p:sp>
        <p:nvSpPr>
          <p:cNvPr id="4" name="Shape 2"/>
          <p:cNvSpPr/>
          <p:nvPr/>
        </p:nvSpPr>
        <p:spPr>
          <a:xfrm>
            <a:off x="548640" y="1691640"/>
            <a:ext cx="11064240" cy="841248"/>
          </a:xfrm>
          <a:prstGeom prst="roundRect">
            <a:avLst>
              <a:gd name="adj" fmla="val 7609"/>
            </a:avLst>
          </a:prstGeom>
          <a:solidFill>
            <a:srgbClr val="F3F5FC"/>
          </a:solidFill>
          <a:ln/>
        </p:spPr>
      </p:sp>
      <p:sp>
        <p:nvSpPr>
          <p:cNvPr id="5" name="Shape 3"/>
          <p:cNvSpPr/>
          <p:nvPr/>
        </p:nvSpPr>
        <p:spPr>
          <a:xfrm>
            <a:off x="841248" y="1938528"/>
            <a:ext cx="347472" cy="347472"/>
          </a:xfrm>
          <a:prstGeom prst="ellipse">
            <a:avLst/>
          </a:prstGeom>
          <a:solidFill>
            <a:srgbClr val="1E2761"/>
          </a:solidFill>
          <a:ln/>
        </p:spPr>
      </p:sp>
      <p:sp>
        <p:nvSpPr>
          <p:cNvPr id="6" name="Text 4"/>
          <p:cNvSpPr txBox="1"/>
          <p:nvPr/>
        </p:nvSpPr>
        <p:spPr>
          <a:xfrm>
            <a:off x="841248" y="1938528"/>
            <a:ext cx="347472" cy="347472"/>
          </a:xfrm>
          <a:prstGeom prst="rect">
            <a:avLst/>
          </a:prstGeom>
          <a:noFill/>
          <a:ln/>
        </p:spPr>
        <p:txBody>
          <a:bodyPr wrap="square" lIns="0" tIns="0" rIns="0" bIns="0" rtlCol="0" anchor="ctr"/>
          <a:lstStyle/>
          <a:p>
            <a:pPr marL="0" indent="0" algn="ctr">
              <a:buNone/>
            </a:pPr>
            <a:r>
              <a:rPr lang="en-US" sz="1400" b="1" dirty="0">
                <a:solidFill>
                  <a:srgbClr val="E3A857"/>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71600" y="1764792"/>
            <a:ext cx="2697480" cy="6949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1 door is the worst case</a:t>
            </a:r>
            <a:endParaRPr lang="en-US" sz="1300" dirty="0"/>
          </a:p>
        </p:txBody>
      </p:sp>
      <p:sp>
        <p:nvSpPr>
          <p:cNvPr id="8" name="Text 6"/>
          <p:cNvSpPr txBox="1"/>
          <p:nvPr/>
        </p:nvSpPr>
        <p:spPr>
          <a:xfrm>
            <a:off x="4160520" y="1764792"/>
            <a:ext cx="7223760" cy="694944"/>
          </a:xfrm>
          <a:prstGeom prst="rect">
            <a:avLst/>
          </a:prstGeom>
          <a:noFill/>
          <a:ln/>
        </p:spPr>
        <p:txBody>
          <a:bodyPr wrap="square" lIns="0" tIns="0" rIns="0" bIns="0" rtlCol="0" anchor="ctr"/>
          <a:lstStyle/>
          <a:p>
            <a:pPr marL="0" indent="0">
              <a:lnSpc>
                <a:spcPct val="110000"/>
              </a:lnSpc>
              <a:buNone/>
            </a:pPr>
            <a:r>
              <a:rPr lang="en-US" sz="1100" dirty="0">
                <a:solidFill>
                  <a:srgbClr val="1B1F2A"/>
                </a:solidFill>
                <a:latin typeface="Calibri" pitchFamily="34" charset="0"/>
                <a:ea typeface="Calibri" pitchFamily="34" charset="-122"/>
                <a:cs typeface="Calibri" pitchFamily="34" charset="-120"/>
              </a:rPr>
              <a:t>With only D1 open, evacuation takes 119.9 s — more than 6× longer than with all doors open, because the whole crowd funnels through one exit.</a:t>
            </a:r>
            <a:endParaRPr lang="en-US" sz="1100" dirty="0"/>
          </a:p>
        </p:txBody>
      </p:sp>
      <p:sp>
        <p:nvSpPr>
          <p:cNvPr id="9" name="Shape 7"/>
          <p:cNvSpPr/>
          <p:nvPr/>
        </p:nvSpPr>
        <p:spPr>
          <a:xfrm>
            <a:off x="548640" y="2660904"/>
            <a:ext cx="11064240" cy="841248"/>
          </a:xfrm>
          <a:prstGeom prst="roundRect">
            <a:avLst>
              <a:gd name="adj" fmla="val 7609"/>
            </a:avLst>
          </a:prstGeom>
          <a:solidFill>
            <a:srgbClr val="F3F5FC"/>
          </a:solidFill>
          <a:ln/>
        </p:spPr>
      </p:sp>
      <p:sp>
        <p:nvSpPr>
          <p:cNvPr id="10" name="Shape 8"/>
          <p:cNvSpPr/>
          <p:nvPr/>
        </p:nvSpPr>
        <p:spPr>
          <a:xfrm>
            <a:off x="841248" y="2907792"/>
            <a:ext cx="347472" cy="347472"/>
          </a:xfrm>
          <a:prstGeom prst="ellipse">
            <a:avLst/>
          </a:prstGeom>
          <a:solidFill>
            <a:srgbClr val="1E2761"/>
          </a:solidFill>
          <a:ln/>
        </p:spPr>
      </p:sp>
      <p:sp>
        <p:nvSpPr>
          <p:cNvPr id="11" name="Text 9"/>
          <p:cNvSpPr txBox="1"/>
          <p:nvPr/>
        </p:nvSpPr>
        <p:spPr>
          <a:xfrm>
            <a:off x="841248" y="2907792"/>
            <a:ext cx="347472" cy="347472"/>
          </a:xfrm>
          <a:prstGeom prst="rect">
            <a:avLst/>
          </a:prstGeom>
          <a:noFill/>
          <a:ln/>
        </p:spPr>
        <p:txBody>
          <a:bodyPr wrap="square" lIns="0" tIns="0" rIns="0" bIns="0" rtlCol="0" anchor="ctr"/>
          <a:lstStyle/>
          <a:p>
            <a:pPr marL="0" indent="0" algn="ctr">
              <a:buNone/>
            </a:pPr>
            <a:r>
              <a:rPr lang="en-US" sz="1400" b="1" dirty="0">
                <a:solidFill>
                  <a:srgbClr val="E3A857"/>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371600" y="2734056"/>
            <a:ext cx="2697480" cy="6949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Alternating walls pays off early</a:t>
            </a:r>
            <a:endParaRPr lang="en-US" sz="1300" dirty="0"/>
          </a:p>
        </p:txBody>
      </p:sp>
      <p:sp>
        <p:nvSpPr>
          <p:cNvPr id="13" name="Text 11"/>
          <p:cNvSpPr txBox="1"/>
          <p:nvPr/>
        </p:nvSpPr>
        <p:spPr>
          <a:xfrm>
            <a:off x="4160520" y="2734056"/>
            <a:ext cx="7223760" cy="694944"/>
          </a:xfrm>
          <a:prstGeom prst="rect">
            <a:avLst/>
          </a:prstGeom>
          <a:noFill/>
          <a:ln/>
        </p:spPr>
        <p:txBody>
          <a:bodyPr wrap="square" lIns="0" tIns="0" rIns="0" bIns="0" rtlCol="0" anchor="ctr"/>
          <a:lstStyle/>
          <a:p>
            <a:pPr marL="0" indent="0">
              <a:lnSpc>
                <a:spcPct val="110000"/>
              </a:lnSpc>
              <a:buNone/>
            </a:pPr>
            <a:r>
              <a:rPr lang="en-US" sz="1100" dirty="0">
                <a:solidFill>
                  <a:srgbClr val="1B1F2A"/>
                </a:solidFill>
                <a:latin typeface="Calibri" pitchFamily="34" charset="0"/>
                <a:ea typeface="Calibri" pitchFamily="34" charset="-122"/>
                <a:cs typeface="Calibri" pitchFamily="34" charset="-120"/>
              </a:rPr>
              <a:t>Opening the 2nd and 3rd doors on different walls (D5, D9) nearly halves the time again, since it relieves congestion on multiple sides at once rather than crowding one wall further.</a:t>
            </a:r>
            <a:endParaRPr lang="en-US" sz="1100" dirty="0"/>
          </a:p>
        </p:txBody>
      </p:sp>
      <p:sp>
        <p:nvSpPr>
          <p:cNvPr id="14" name="Shape 12"/>
          <p:cNvSpPr/>
          <p:nvPr/>
        </p:nvSpPr>
        <p:spPr>
          <a:xfrm>
            <a:off x="548640" y="3630168"/>
            <a:ext cx="11064240" cy="841248"/>
          </a:xfrm>
          <a:prstGeom prst="roundRect">
            <a:avLst>
              <a:gd name="adj" fmla="val 7609"/>
            </a:avLst>
          </a:prstGeom>
          <a:solidFill>
            <a:srgbClr val="F3F5FC"/>
          </a:solidFill>
          <a:ln/>
        </p:spPr>
      </p:sp>
      <p:sp>
        <p:nvSpPr>
          <p:cNvPr id="15" name="Shape 13"/>
          <p:cNvSpPr/>
          <p:nvPr/>
        </p:nvSpPr>
        <p:spPr>
          <a:xfrm>
            <a:off x="841248" y="3877056"/>
            <a:ext cx="347472" cy="347472"/>
          </a:xfrm>
          <a:prstGeom prst="ellipse">
            <a:avLst/>
          </a:prstGeom>
          <a:solidFill>
            <a:srgbClr val="1E2761"/>
          </a:solidFill>
          <a:ln/>
        </p:spPr>
      </p:sp>
      <p:sp>
        <p:nvSpPr>
          <p:cNvPr id="16" name="Text 14"/>
          <p:cNvSpPr txBox="1"/>
          <p:nvPr/>
        </p:nvSpPr>
        <p:spPr>
          <a:xfrm>
            <a:off x="841248" y="3877056"/>
            <a:ext cx="347472" cy="347472"/>
          </a:xfrm>
          <a:prstGeom prst="rect">
            <a:avLst/>
          </a:prstGeom>
          <a:noFill/>
          <a:ln/>
        </p:spPr>
        <p:txBody>
          <a:bodyPr wrap="square" lIns="0" tIns="0" rIns="0" bIns="0" rtlCol="0" anchor="ctr"/>
          <a:lstStyle/>
          <a:p>
            <a:pPr marL="0" indent="0" algn="ctr">
              <a:buNone/>
            </a:pPr>
            <a:r>
              <a:rPr lang="en-US" sz="1400" b="1" dirty="0">
                <a:solidFill>
                  <a:srgbClr val="E3A857"/>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71600" y="3703320"/>
            <a:ext cx="2697480" cy="6949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Sharp diminishing returns</a:t>
            </a:r>
            <a:endParaRPr lang="en-US" sz="1300" dirty="0"/>
          </a:p>
        </p:txBody>
      </p:sp>
      <p:sp>
        <p:nvSpPr>
          <p:cNvPr id="18" name="Text 16"/>
          <p:cNvSpPr txBox="1"/>
          <p:nvPr/>
        </p:nvSpPr>
        <p:spPr>
          <a:xfrm>
            <a:off x="4160520" y="3703320"/>
            <a:ext cx="7223760" cy="694944"/>
          </a:xfrm>
          <a:prstGeom prst="rect">
            <a:avLst/>
          </a:prstGeom>
          <a:noFill/>
          <a:ln/>
        </p:spPr>
        <p:txBody>
          <a:bodyPr wrap="square" lIns="0" tIns="0" rIns="0" bIns="0" rtlCol="0" anchor="ctr"/>
          <a:lstStyle/>
          <a:p>
            <a:pPr marL="0" indent="0">
              <a:lnSpc>
                <a:spcPct val="110000"/>
              </a:lnSpc>
              <a:buNone/>
            </a:pPr>
            <a:r>
              <a:rPr lang="en-US" sz="1100" dirty="0">
                <a:solidFill>
                  <a:srgbClr val="1B1F2A"/>
                </a:solidFill>
                <a:latin typeface="Calibri" pitchFamily="34" charset="0"/>
                <a:ea typeface="Calibri" pitchFamily="34" charset="-122"/>
                <a:cs typeface="Calibri" pitchFamily="34" charset="-120"/>
              </a:rPr>
              <a:t>Beyond about 6 open doors (35.5 s → 23.5 s → 20.8 s...), each extra door buys progressively less time — the crowd is no longer door-limited but travel-time-limited.</a:t>
            </a:r>
            <a:endParaRPr lang="en-US" sz="1100" dirty="0"/>
          </a:p>
        </p:txBody>
      </p:sp>
      <p:sp>
        <p:nvSpPr>
          <p:cNvPr id="19" name="Shape 17"/>
          <p:cNvSpPr/>
          <p:nvPr/>
        </p:nvSpPr>
        <p:spPr>
          <a:xfrm>
            <a:off x="548640" y="4599432"/>
            <a:ext cx="11064240" cy="841248"/>
          </a:xfrm>
          <a:prstGeom prst="roundRect">
            <a:avLst>
              <a:gd name="adj" fmla="val 7609"/>
            </a:avLst>
          </a:prstGeom>
          <a:solidFill>
            <a:srgbClr val="F3F5FC"/>
          </a:solidFill>
          <a:ln/>
        </p:spPr>
      </p:sp>
      <p:sp>
        <p:nvSpPr>
          <p:cNvPr id="20" name="Shape 18"/>
          <p:cNvSpPr/>
          <p:nvPr/>
        </p:nvSpPr>
        <p:spPr>
          <a:xfrm>
            <a:off x="841248" y="4846320"/>
            <a:ext cx="347472" cy="347472"/>
          </a:xfrm>
          <a:prstGeom prst="ellipse">
            <a:avLst/>
          </a:prstGeom>
          <a:solidFill>
            <a:srgbClr val="1E2761"/>
          </a:solidFill>
          <a:ln/>
        </p:spPr>
      </p:sp>
      <p:sp>
        <p:nvSpPr>
          <p:cNvPr id="21" name="Text 19"/>
          <p:cNvSpPr txBox="1"/>
          <p:nvPr/>
        </p:nvSpPr>
        <p:spPr>
          <a:xfrm>
            <a:off x="841248" y="4846320"/>
            <a:ext cx="347472" cy="347472"/>
          </a:xfrm>
          <a:prstGeom prst="rect">
            <a:avLst/>
          </a:prstGeom>
          <a:noFill/>
          <a:ln/>
        </p:spPr>
        <p:txBody>
          <a:bodyPr wrap="square" lIns="0" tIns="0" rIns="0" bIns="0" rtlCol="0" anchor="ctr"/>
          <a:lstStyle/>
          <a:p>
            <a:pPr marL="0" indent="0" algn="ctr">
              <a:buNone/>
            </a:pPr>
            <a:r>
              <a:rPr lang="en-US" sz="1400" b="1" dirty="0">
                <a:solidFill>
                  <a:srgbClr val="E3A857"/>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371600" y="4672584"/>
            <a:ext cx="2697480" cy="6949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Simulated vs. theoretical minimum</a:t>
            </a:r>
            <a:endParaRPr lang="en-US" sz="1300" dirty="0"/>
          </a:p>
        </p:txBody>
      </p:sp>
      <p:sp>
        <p:nvSpPr>
          <p:cNvPr id="23" name="Text 21"/>
          <p:cNvSpPr txBox="1"/>
          <p:nvPr/>
        </p:nvSpPr>
        <p:spPr>
          <a:xfrm>
            <a:off x="4160520" y="4672584"/>
            <a:ext cx="7223760" cy="694944"/>
          </a:xfrm>
          <a:prstGeom prst="rect">
            <a:avLst/>
          </a:prstGeom>
          <a:noFill/>
          <a:ln/>
        </p:spPr>
        <p:txBody>
          <a:bodyPr wrap="square" lIns="0" tIns="0" rIns="0" bIns="0" rtlCol="0" anchor="ctr"/>
          <a:lstStyle/>
          <a:p>
            <a:pPr marL="0" indent="0">
              <a:lnSpc>
                <a:spcPct val="110000"/>
              </a:lnSpc>
              <a:buNone/>
            </a:pPr>
            <a:r>
              <a:rPr lang="en-US" sz="1100" dirty="0">
                <a:solidFill>
                  <a:srgbClr val="1B1F2A"/>
                </a:solidFill>
                <a:latin typeface="Calibri" pitchFamily="34" charset="0"/>
                <a:ea typeface="Calibri" pitchFamily="34" charset="-122"/>
                <a:cs typeface="Calibri" pitchFamily="34" charset="-120"/>
              </a:rPr>
              <a:t>The code also prints a theoretical minimum time from raw door capacity (N_open × D × 5 people/s); the simulated time is higher, correctly capturing queuing and walking-distance effects the theory ignores.</a:t>
            </a:r>
            <a:endParaRPr lang="en-US" sz="1100" dirty="0"/>
          </a:p>
        </p:txBody>
      </p:sp>
      <p:sp>
        <p:nvSpPr>
          <p:cNvPr id="24" name="Shape 22"/>
          <p:cNvSpPr/>
          <p:nvPr/>
        </p:nvSpPr>
        <p:spPr>
          <a:xfrm>
            <a:off x="548640" y="5568696"/>
            <a:ext cx="11064240" cy="841248"/>
          </a:xfrm>
          <a:prstGeom prst="roundRect">
            <a:avLst>
              <a:gd name="adj" fmla="val 7609"/>
            </a:avLst>
          </a:prstGeom>
          <a:solidFill>
            <a:srgbClr val="F3F5FC"/>
          </a:solidFill>
          <a:ln/>
        </p:spPr>
      </p:sp>
      <p:sp>
        <p:nvSpPr>
          <p:cNvPr id="25" name="Shape 23"/>
          <p:cNvSpPr/>
          <p:nvPr/>
        </p:nvSpPr>
        <p:spPr>
          <a:xfrm>
            <a:off x="841248" y="5815584"/>
            <a:ext cx="347472" cy="347472"/>
          </a:xfrm>
          <a:prstGeom prst="ellipse">
            <a:avLst/>
          </a:prstGeom>
          <a:solidFill>
            <a:srgbClr val="1E2761"/>
          </a:solidFill>
          <a:ln/>
        </p:spPr>
      </p:sp>
      <p:sp>
        <p:nvSpPr>
          <p:cNvPr id="26" name="Text 24"/>
          <p:cNvSpPr txBox="1"/>
          <p:nvPr/>
        </p:nvSpPr>
        <p:spPr>
          <a:xfrm>
            <a:off x="841248" y="5815584"/>
            <a:ext cx="347472" cy="347472"/>
          </a:xfrm>
          <a:prstGeom prst="rect">
            <a:avLst/>
          </a:prstGeom>
          <a:noFill/>
          <a:ln/>
        </p:spPr>
        <p:txBody>
          <a:bodyPr wrap="square" lIns="0" tIns="0" rIns="0" bIns="0" rtlCol="0" anchor="ctr"/>
          <a:lstStyle/>
          <a:p>
            <a:pPr marL="0" indent="0" algn="ctr">
              <a:buNone/>
            </a:pPr>
            <a:r>
              <a:rPr lang="en-US" sz="1400" b="1" dirty="0">
                <a:solidFill>
                  <a:srgbClr val="E3A857"/>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371600" y="5641848"/>
            <a:ext cx="2697480" cy="69494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Doors matter more than distance</a:t>
            </a:r>
            <a:endParaRPr lang="en-US" sz="1300" dirty="0"/>
          </a:p>
        </p:txBody>
      </p:sp>
      <p:sp>
        <p:nvSpPr>
          <p:cNvPr id="28" name="Text 26"/>
          <p:cNvSpPr txBox="1"/>
          <p:nvPr/>
        </p:nvSpPr>
        <p:spPr>
          <a:xfrm>
            <a:off x="4160520" y="5641848"/>
            <a:ext cx="7223760" cy="694944"/>
          </a:xfrm>
          <a:prstGeom prst="rect">
            <a:avLst/>
          </a:prstGeom>
          <a:noFill/>
          <a:ln/>
        </p:spPr>
        <p:txBody>
          <a:bodyPr wrap="square" lIns="0" tIns="0" rIns="0" bIns="0" rtlCol="0" anchor="ctr"/>
          <a:lstStyle/>
          <a:p>
            <a:pPr marL="0" indent="0">
              <a:lnSpc>
                <a:spcPct val="110000"/>
              </a:lnSpc>
              <a:buNone/>
            </a:pPr>
            <a:r>
              <a:rPr lang="en-US" sz="1100" dirty="0">
                <a:solidFill>
                  <a:srgbClr val="1B1F2A"/>
                </a:solidFill>
                <a:latin typeface="Calibri" pitchFamily="34" charset="0"/>
                <a:ea typeface="Calibri" pitchFamily="34" charset="-122"/>
                <a:cs typeface="Calibri" pitchFamily="34" charset="-120"/>
              </a:rPr>
              <a:t>Because the room is long (1:3) and the stage blocks the front, exit choice is dominated by which doors are open, not just how far people start from them.</a:t>
            </a:r>
            <a:endParaRPr lang="en-US" sz="1100" dirty="0"/>
          </a:p>
        </p:txBody>
      </p:sp>
      <p:sp>
        <p:nvSpPr>
          <p:cNvPr id="29" name="Text 2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5B6178"/>
                </a:solidFill>
                <a:latin typeface="Calibri" pitchFamily="34" charset="0"/>
                <a:ea typeface="Calibri" pitchFamily="34" charset="-122"/>
                <a:cs typeface="Calibri" pitchFamily="34" charset="-120"/>
              </a:rPr>
              <a:t>UGP Progress — Auditorium Evacuation Study</a:t>
            </a:r>
            <a:endParaRPr lang="en-US" sz="1000" dirty="0"/>
          </a:p>
        </p:txBody>
      </p:sp>
      <p:sp>
        <p:nvSpPr>
          <p:cNvPr id="30" name="Text 28"/>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377440" y="4206240"/>
            <a:ext cx="5486400" cy="5486400"/>
          </a:xfrm>
          <a:prstGeom prst="ellipse">
            <a:avLst/>
          </a:prstGeom>
          <a:solidFill>
            <a:srgbClr val="141B47"/>
          </a:solidFill>
          <a:ln/>
        </p:spPr>
      </p:sp>
      <p:sp>
        <p:nvSpPr>
          <p:cNvPr id="3" name="Text 1"/>
          <p:cNvSpPr txBox="1"/>
          <p:nvPr/>
        </p:nvSpPr>
        <p:spPr>
          <a:xfrm>
            <a:off x="640080" y="502920"/>
            <a:ext cx="7315200" cy="365760"/>
          </a:xfrm>
          <a:prstGeom prst="rect">
            <a:avLst/>
          </a:prstGeom>
          <a:noFill/>
          <a:ln/>
        </p:spPr>
        <p:txBody>
          <a:bodyPr wrap="square" lIns="0" tIns="0" rIns="0" bIns="0" rtlCol="0" anchor="ctr"/>
          <a:lstStyle/>
          <a:p>
            <a:pPr marL="0" indent="0">
              <a:buNone/>
            </a:pPr>
            <a:r>
              <a:rPr lang="en-US" sz="1300" b="1" kern="0" spc="200" dirty="0">
                <a:solidFill>
                  <a:srgbClr val="E3A857"/>
                </a:solidFill>
                <a:latin typeface="Calibri" pitchFamily="34" charset="0"/>
                <a:ea typeface="Calibri" pitchFamily="34" charset="-122"/>
                <a:cs typeface="Calibri" pitchFamily="34" charset="-120"/>
              </a:rPr>
              <a:t>CONCLUSION &amp; NEXT STEPS</a:t>
            </a:r>
            <a:endParaRPr lang="en-US" sz="1300" dirty="0"/>
          </a:p>
        </p:txBody>
      </p:sp>
      <p:sp>
        <p:nvSpPr>
          <p:cNvPr id="4" name="Text 2"/>
          <p:cNvSpPr txBox="1"/>
          <p:nvPr/>
        </p:nvSpPr>
        <p:spPr>
          <a:xfrm>
            <a:off x="640080" y="91440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Progress so far, and where this is headed</a:t>
            </a:r>
            <a:endParaRPr lang="en-US" sz="2800" dirty="0"/>
          </a:p>
        </p:txBody>
      </p:sp>
      <p:sp>
        <p:nvSpPr>
          <p:cNvPr id="5" name="Shape 3"/>
          <p:cNvSpPr/>
          <p:nvPr/>
        </p:nvSpPr>
        <p:spPr>
          <a:xfrm>
            <a:off x="640080" y="1783080"/>
            <a:ext cx="5212080" cy="4206240"/>
          </a:xfrm>
          <a:prstGeom prst="roundRect">
            <a:avLst>
              <a:gd name="adj" fmla="val 1739"/>
            </a:avLst>
          </a:prstGeom>
          <a:solidFill>
            <a:srgbClr val="232B60"/>
          </a:solidFill>
          <a:ln/>
        </p:spPr>
      </p:sp>
      <p:sp>
        <p:nvSpPr>
          <p:cNvPr id="6" name="Text 4"/>
          <p:cNvSpPr txBox="1"/>
          <p:nvPr/>
        </p:nvSpPr>
        <p:spPr>
          <a:xfrm>
            <a:off x="896112" y="1965960"/>
            <a:ext cx="4663440" cy="320040"/>
          </a:xfrm>
          <a:prstGeom prst="rect">
            <a:avLst/>
          </a:prstGeom>
          <a:noFill/>
          <a:ln/>
        </p:spPr>
        <p:txBody>
          <a:bodyPr wrap="square" lIns="0" tIns="0" rIns="0" bIns="0" rtlCol="0" anchor="ctr"/>
          <a:lstStyle/>
          <a:p>
            <a:pPr marL="0" indent="0">
              <a:buNone/>
            </a:pPr>
            <a:r>
              <a:rPr lang="en-US" sz="1500" b="1" dirty="0">
                <a:solidFill>
                  <a:srgbClr val="E3A857"/>
                </a:solidFill>
                <a:latin typeface="Calibri" pitchFamily="34" charset="0"/>
                <a:ea typeface="Calibri" pitchFamily="34" charset="-122"/>
                <a:cs typeface="Calibri" pitchFamily="34" charset="-120"/>
              </a:rPr>
              <a:t>Conclusions</a:t>
            </a:r>
            <a:endParaRPr lang="en-US" sz="1500" dirty="0"/>
          </a:p>
        </p:txBody>
      </p:sp>
      <p:sp>
        <p:nvSpPr>
          <p:cNvPr id="7" name="Shape 5"/>
          <p:cNvSpPr/>
          <p:nvPr/>
        </p:nvSpPr>
        <p:spPr>
          <a:xfrm>
            <a:off x="932688" y="2450592"/>
            <a:ext cx="128016" cy="128016"/>
          </a:xfrm>
          <a:prstGeom prst="ellipse">
            <a:avLst/>
          </a:prstGeom>
          <a:solidFill>
            <a:srgbClr val="E3A857"/>
          </a:solidFill>
          <a:ln/>
        </p:spPr>
      </p:sp>
      <p:sp>
        <p:nvSpPr>
          <p:cNvPr id="8" name="Text 6"/>
          <p:cNvSpPr txBox="1"/>
          <p:nvPr/>
        </p:nvSpPr>
        <p:spPr>
          <a:xfrm>
            <a:off x="1188720" y="2331720"/>
            <a:ext cx="4480560" cy="1097280"/>
          </a:xfrm>
          <a:prstGeom prst="rect">
            <a:avLst/>
          </a:prstGeom>
          <a:noFill/>
          <a:ln/>
        </p:spPr>
        <p:txBody>
          <a:bodyPr wrap="square" lIns="0" tIns="0" rIns="0" bIns="0" rtlCol="0" anchor="ctr"/>
          <a:lstStyle/>
          <a:p>
            <a:pPr marL="0" indent="0">
              <a:lnSpc>
                <a:spcPct val="118000"/>
              </a:lnSpc>
              <a:buNone/>
            </a:pPr>
            <a:r>
              <a:rPr lang="en-US" sz="1200" dirty="0">
                <a:solidFill>
                  <a:srgbClr val="CADCFC"/>
                </a:solidFill>
                <a:latin typeface="Calibri" pitchFamily="34" charset="0"/>
                <a:ea typeface="Calibri" pitchFamily="34" charset="-122"/>
                <a:cs typeface="Calibri" pitchFamily="34" charset="-120"/>
              </a:rPr>
              <a:t>A working macroscopic evacuation simulator has been built and validated: eikonal routing + WENO advection + capacity-limited doors.</a:t>
            </a:r>
            <a:endParaRPr lang="en-US" sz="1200" dirty="0"/>
          </a:p>
        </p:txBody>
      </p:sp>
      <p:sp>
        <p:nvSpPr>
          <p:cNvPr id="9" name="Shape 7"/>
          <p:cNvSpPr/>
          <p:nvPr/>
        </p:nvSpPr>
        <p:spPr>
          <a:xfrm>
            <a:off x="932688" y="3621024"/>
            <a:ext cx="128016" cy="128016"/>
          </a:xfrm>
          <a:prstGeom prst="ellipse">
            <a:avLst/>
          </a:prstGeom>
          <a:solidFill>
            <a:srgbClr val="E3A857"/>
          </a:solidFill>
          <a:ln/>
        </p:spPr>
      </p:sp>
      <p:sp>
        <p:nvSpPr>
          <p:cNvPr id="10" name="Text 8"/>
          <p:cNvSpPr txBox="1"/>
          <p:nvPr/>
        </p:nvSpPr>
        <p:spPr>
          <a:xfrm>
            <a:off x="1188720" y="3502152"/>
            <a:ext cx="4480560" cy="1097280"/>
          </a:xfrm>
          <a:prstGeom prst="rect">
            <a:avLst/>
          </a:prstGeom>
          <a:noFill/>
          <a:ln/>
        </p:spPr>
        <p:txBody>
          <a:bodyPr wrap="square" lIns="0" tIns="0" rIns="0" bIns="0" rtlCol="0" anchor="ctr"/>
          <a:lstStyle/>
          <a:p>
            <a:pPr marL="0" indent="0">
              <a:lnSpc>
                <a:spcPct val="118000"/>
              </a:lnSpc>
              <a:buNone/>
            </a:pPr>
            <a:r>
              <a:rPr lang="en-US" sz="1200" dirty="0">
                <a:solidFill>
                  <a:srgbClr val="CADCFC"/>
                </a:solidFill>
                <a:latin typeface="Calibri" pitchFamily="34" charset="0"/>
                <a:ea typeface="Calibri" pitchFamily="34" charset="-122"/>
                <a:cs typeface="Calibri" pitchFamily="34" charset="-120"/>
              </a:rPr>
              <a:t>For the 10-door auditorium layout, opening doors one by one cuts evacuation time from 119.9 s to 18.5 s.</a:t>
            </a:r>
            <a:endParaRPr lang="en-US" sz="1200" dirty="0"/>
          </a:p>
        </p:txBody>
      </p:sp>
      <p:sp>
        <p:nvSpPr>
          <p:cNvPr id="11" name="Shape 9"/>
          <p:cNvSpPr/>
          <p:nvPr/>
        </p:nvSpPr>
        <p:spPr>
          <a:xfrm>
            <a:off x="932688" y="4791456"/>
            <a:ext cx="128016" cy="128016"/>
          </a:xfrm>
          <a:prstGeom prst="ellipse">
            <a:avLst/>
          </a:prstGeom>
          <a:solidFill>
            <a:srgbClr val="E3A857"/>
          </a:solidFill>
          <a:ln/>
        </p:spPr>
      </p:sp>
      <p:sp>
        <p:nvSpPr>
          <p:cNvPr id="12" name="Text 10"/>
          <p:cNvSpPr txBox="1"/>
          <p:nvPr/>
        </p:nvSpPr>
        <p:spPr>
          <a:xfrm>
            <a:off x="1188720" y="4672584"/>
            <a:ext cx="4480560" cy="1097280"/>
          </a:xfrm>
          <a:prstGeom prst="rect">
            <a:avLst/>
          </a:prstGeom>
          <a:noFill/>
          <a:ln/>
        </p:spPr>
        <p:txBody>
          <a:bodyPr wrap="square" lIns="0" tIns="0" rIns="0" bIns="0" rtlCol="0" anchor="ctr"/>
          <a:lstStyle/>
          <a:p>
            <a:pPr marL="0" indent="0">
              <a:lnSpc>
                <a:spcPct val="118000"/>
              </a:lnSpc>
              <a:buNone/>
            </a:pPr>
            <a:r>
              <a:rPr lang="en-US" sz="1200" dirty="0">
                <a:solidFill>
                  <a:srgbClr val="CADCFC"/>
                </a:solidFill>
                <a:latin typeface="Calibri" pitchFamily="34" charset="0"/>
                <a:ea typeface="Calibri" pitchFamily="34" charset="-122"/>
                <a:cs typeface="Calibri" pitchFamily="34" charset="-120"/>
              </a:rPr>
              <a:t>Benefits are front-loaded: the first few doors (spread across different walls) matter far more than the last few.</a:t>
            </a:r>
            <a:endParaRPr lang="en-US" sz="1200" dirty="0"/>
          </a:p>
        </p:txBody>
      </p:sp>
      <p:sp>
        <p:nvSpPr>
          <p:cNvPr id="13" name="Shape 11"/>
          <p:cNvSpPr/>
          <p:nvPr/>
        </p:nvSpPr>
        <p:spPr>
          <a:xfrm>
            <a:off x="6126480" y="1783080"/>
            <a:ext cx="5486400" cy="4206240"/>
          </a:xfrm>
          <a:prstGeom prst="roundRect">
            <a:avLst>
              <a:gd name="adj" fmla="val 1739"/>
            </a:avLst>
          </a:prstGeom>
          <a:solidFill>
            <a:srgbClr val="232B60"/>
          </a:solidFill>
          <a:ln/>
        </p:spPr>
      </p:sp>
      <p:sp>
        <p:nvSpPr>
          <p:cNvPr id="14" name="Text 12"/>
          <p:cNvSpPr txBox="1"/>
          <p:nvPr/>
        </p:nvSpPr>
        <p:spPr>
          <a:xfrm>
            <a:off x="6382512" y="1965960"/>
            <a:ext cx="4937760" cy="320040"/>
          </a:xfrm>
          <a:prstGeom prst="rect">
            <a:avLst/>
          </a:prstGeom>
          <a:noFill/>
          <a:ln/>
        </p:spPr>
        <p:txBody>
          <a:bodyPr wrap="square" lIns="0" tIns="0" rIns="0" bIns="0" rtlCol="0" anchor="ctr"/>
          <a:lstStyle/>
          <a:p>
            <a:pPr marL="0" indent="0">
              <a:buNone/>
            </a:pPr>
            <a:r>
              <a:rPr lang="en-US" sz="1500" b="1" dirty="0">
                <a:solidFill>
                  <a:srgbClr val="E3A857"/>
                </a:solidFill>
                <a:latin typeface="Calibri" pitchFamily="34" charset="0"/>
                <a:ea typeface="Calibri" pitchFamily="34" charset="-122"/>
                <a:cs typeface="Calibri" pitchFamily="34" charset="-120"/>
              </a:rPr>
              <a:t>Next steps</a:t>
            </a:r>
            <a:endParaRPr lang="en-US" sz="1500" dirty="0"/>
          </a:p>
        </p:txBody>
      </p:sp>
      <p:sp>
        <p:nvSpPr>
          <p:cNvPr id="15" name="Shape 13"/>
          <p:cNvSpPr/>
          <p:nvPr/>
        </p:nvSpPr>
        <p:spPr>
          <a:xfrm>
            <a:off x="6419088" y="2450592"/>
            <a:ext cx="128016" cy="128016"/>
          </a:xfrm>
          <a:prstGeom prst="ellipse">
            <a:avLst/>
          </a:prstGeom>
          <a:solidFill>
            <a:srgbClr val="E3A857"/>
          </a:solidFill>
          <a:ln/>
        </p:spPr>
      </p:sp>
      <p:sp>
        <p:nvSpPr>
          <p:cNvPr id="16" name="Text 14"/>
          <p:cNvSpPr txBox="1"/>
          <p:nvPr/>
        </p:nvSpPr>
        <p:spPr>
          <a:xfrm>
            <a:off x="6675120" y="2331720"/>
            <a:ext cx="4800600" cy="868680"/>
          </a:xfrm>
          <a:prstGeom prst="rect">
            <a:avLst/>
          </a:prstGeom>
          <a:noFill/>
          <a:ln/>
        </p:spPr>
        <p:txBody>
          <a:bodyPr wrap="square" lIns="0" tIns="0" rIns="0" bIns="0" rtlCol="0" anchor="ctr"/>
          <a:lstStyle/>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Run the special case: same 4 doors reduced to 2 walls only, and compare against the 3-wall result.</a:t>
            </a:r>
            <a:endParaRPr lang="en-US" sz="1150" dirty="0"/>
          </a:p>
        </p:txBody>
      </p:sp>
      <p:sp>
        <p:nvSpPr>
          <p:cNvPr id="17" name="Shape 15"/>
          <p:cNvSpPr/>
          <p:nvPr/>
        </p:nvSpPr>
        <p:spPr>
          <a:xfrm>
            <a:off x="6419088" y="3346704"/>
            <a:ext cx="128016" cy="128016"/>
          </a:xfrm>
          <a:prstGeom prst="ellipse">
            <a:avLst/>
          </a:prstGeom>
          <a:solidFill>
            <a:srgbClr val="E3A857"/>
          </a:solidFill>
          <a:ln/>
        </p:spPr>
      </p:sp>
      <p:sp>
        <p:nvSpPr>
          <p:cNvPr id="18" name="Text 16"/>
          <p:cNvSpPr txBox="1"/>
          <p:nvPr/>
        </p:nvSpPr>
        <p:spPr>
          <a:xfrm>
            <a:off x="6675120" y="3227832"/>
            <a:ext cx="4800600" cy="868680"/>
          </a:xfrm>
          <a:prstGeom prst="rect">
            <a:avLst/>
          </a:prstGeom>
          <a:noFill/>
          <a:ln/>
        </p:spPr>
        <p:txBody>
          <a:bodyPr wrap="square" lIns="0" tIns="0" rIns="0" bIns="0" rtlCol="0" anchor="ctr"/>
          <a:lstStyle/>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Add realistic furniture,  rows of seats/chairs and aisles to the currently empty auditorium floor.</a:t>
            </a:r>
            <a:endParaRPr lang="en-US" sz="1150" dirty="0"/>
          </a:p>
        </p:txBody>
      </p:sp>
      <p:sp>
        <p:nvSpPr>
          <p:cNvPr id="19" name="Shape 17"/>
          <p:cNvSpPr/>
          <p:nvPr/>
        </p:nvSpPr>
        <p:spPr>
          <a:xfrm>
            <a:off x="6419088" y="4242816"/>
            <a:ext cx="128016" cy="128016"/>
          </a:xfrm>
          <a:prstGeom prst="ellipse">
            <a:avLst/>
          </a:prstGeom>
          <a:solidFill>
            <a:srgbClr val="E3A857"/>
          </a:solidFill>
          <a:ln/>
        </p:spPr>
      </p:sp>
      <p:sp>
        <p:nvSpPr>
          <p:cNvPr id="20" name="Text 18"/>
          <p:cNvSpPr txBox="1"/>
          <p:nvPr/>
        </p:nvSpPr>
        <p:spPr>
          <a:xfrm>
            <a:off x="6675120" y="4123944"/>
            <a:ext cx="4800600" cy="868680"/>
          </a:xfrm>
          <a:prstGeom prst="rect">
            <a:avLst/>
          </a:prstGeom>
          <a:noFill/>
          <a:ln/>
        </p:spPr>
        <p:txBody>
          <a:bodyPr wrap="square" lIns="0" tIns="0" rIns="0" bIns="0" rtlCol="0" anchor="ctr"/>
          <a:lstStyle/>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Explore non-uniform crowd like VIPs, old people, etc.</a:t>
            </a:r>
            <a:endParaRPr lang="en-US" sz="1150" dirty="0"/>
          </a:p>
        </p:txBody>
      </p:sp>
      <p:sp>
        <p:nvSpPr>
          <p:cNvPr id="21" name="Shape 19"/>
          <p:cNvSpPr/>
          <p:nvPr/>
        </p:nvSpPr>
        <p:spPr>
          <a:xfrm>
            <a:off x="6419088" y="5138928"/>
            <a:ext cx="128016" cy="128016"/>
          </a:xfrm>
          <a:prstGeom prst="ellipse">
            <a:avLst/>
          </a:prstGeom>
          <a:solidFill>
            <a:srgbClr val="E3A857"/>
          </a:solidFill>
          <a:ln/>
        </p:spPr>
      </p:sp>
      <p:sp>
        <p:nvSpPr>
          <p:cNvPr id="22" name="Text 20"/>
          <p:cNvSpPr txBox="1"/>
          <p:nvPr/>
        </p:nvSpPr>
        <p:spPr>
          <a:xfrm>
            <a:off x="6675120" y="5020056"/>
            <a:ext cx="4800600" cy="868680"/>
          </a:xfrm>
          <a:prstGeom prst="rect">
            <a:avLst/>
          </a:prstGeom>
          <a:noFill/>
          <a:ln/>
        </p:spPr>
        <p:txBody>
          <a:bodyPr wrap="square" lIns="0" tIns="0" rIns="0" bIns="0" rtlCol="0" anchor="ctr"/>
          <a:lstStyle/>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Explore non-uniform door widths and asymmetric door placement.</a:t>
            </a:r>
            <a:endParaRPr lang="en-US" sz="1150" dirty="0"/>
          </a:p>
        </p:txBody>
      </p:sp>
      <p:sp>
        <p:nvSpPr>
          <p:cNvPr id="23" name="Text 21"/>
          <p:cNvSpPr txBox="1"/>
          <p:nvPr/>
        </p:nvSpPr>
        <p:spPr>
          <a:xfrm>
            <a:off x="640080" y="6172200"/>
            <a:ext cx="5486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TotalTime>
  <Words>1635</Words>
  <Application>Microsoft Office PowerPoint</Application>
  <PresentationFormat>Widescreen</PresentationFormat>
  <Paragraphs>198</Paragraphs>
  <Slides>11</Slides>
  <Notes>11</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Ananya Narayani</cp:lastModifiedBy>
  <cp:revision>3</cp:revision>
  <dcterms:created xsi:type="dcterms:W3CDTF">2026-09-28T19:49:16Z</dcterms:created>
  <dcterms:modified xsi:type="dcterms:W3CDTF">2026-09-29T14:02:29Z</dcterms:modified>
</cp:coreProperties>
</file>