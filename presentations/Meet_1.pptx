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73" r:id="rId4"/>
    <p:sldId id="259" r:id="rId5"/>
    <p:sldId id="260" r:id="rId6"/>
    <p:sldId id="261" r:id="rId7"/>
    <p:sldId id="262" r:id="rId8"/>
    <p:sldId id="276" r:id="rId9"/>
    <p:sldId id="264" r:id="rId10"/>
    <p:sldId id="275" r:id="rId11"/>
    <p:sldId id="266" r:id="rId12"/>
    <p:sldId id="267" r:id="rId13"/>
    <p:sldId id="268" r:id="rId14"/>
    <p:sldId id="274" r:id="rId15"/>
    <p:sldId id="270" r:id="rId16"/>
    <p:sldId id="277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18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C1EA5-F252-A975-4C7F-77BCE96C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ED91E-5E01-2779-1320-D7BAF614F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421FC-F751-7283-A63A-F3F9FE89A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07DCB-0FA1-9BFA-11F1-FB046B6C4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76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B7BD4-960F-7B93-525B-88E3550BB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C2270-B6AF-8B98-9A3C-D64E15D10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4011B-0E09-99F8-DC01-E2AD15670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573FF-7502-776F-2172-D44511DE58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89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BC8AC-07D4-8678-A263-A855D14B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8DFB1-A345-F534-6F9F-0069B4B0F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7E45D-28DD-36B9-F761-D63012B6C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F4C0B-D11A-BC58-E2DA-1D6D1D024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908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81AF-D84C-BCA7-DDFB-2E78B27C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B8B09-3378-5C44-A4E5-AC51A84F9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89970-B9D0-8C49-E850-B736D00BC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E3CCD-4B74-A42D-41F6-40875BE9B0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05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CROWD DYNAMICS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32291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Evacuation Problem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1736" y="323305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UGP  Presentation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669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Narayani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114800"/>
          </a:xfrm>
          <a:prstGeom prst="roundRect">
            <a:avLst>
              <a:gd name="adj" fmla="val 1778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2000" y="1828800"/>
            <a:ext cx="6309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Room evacuation studies the movement of a crowd from an enclosed space through available exits.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Evacuation efficiency depends on factors such as crowd density, pedestrian movement and exit configuration.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At high densities, pedestrian interactions can lead to congestion and slower evacuation.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 continuum crowd model can represent the crowd through its density and velocity fields, providing a computationally efficient way to study large crowds.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present work focuses on applying this framework to a room evacuation problem and investigating the effect of multiple exits on evacuation time.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299C1-7DDD-BD91-7454-EEE25F32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0F0D04-AF7E-05A0-DD4E-31B3157EE1D3}"/>
              </a:ext>
            </a:extLst>
          </p:cNvPr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865605-C7C8-1D4A-F6B0-D213C31E1330}"/>
              </a:ext>
            </a:extLst>
          </p:cNvPr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Hughes' continuum theory of pedestrian flow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7D49DA-DB4D-2F62-9B38-0C5158E87A8D}"/>
              </a:ext>
            </a:extLst>
          </p:cNvPr>
          <p:cNvSpPr/>
          <p:nvPr/>
        </p:nvSpPr>
        <p:spPr>
          <a:xfrm>
            <a:off x="548640" y="1737359"/>
            <a:ext cx="6949440" cy="4318207"/>
          </a:xfrm>
          <a:prstGeom prst="roundRect">
            <a:avLst>
              <a:gd name="adj" fmla="val 1778"/>
            </a:avLst>
          </a:prstGeom>
          <a:solidFill>
            <a:srgbClr val="F4F6F8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231D7083-4FB9-BC98-0A7C-4629AA0BCC50}"/>
                  </a:ext>
                </a:extLst>
              </p:cNvPr>
              <p:cNvSpPr txBox="1"/>
              <p:nvPr/>
            </p:nvSpPr>
            <p:spPr>
              <a:xfrm>
                <a:off x="762000" y="2364746"/>
                <a:ext cx="6309360" cy="387220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250" dirty="0">
                    <a:solidFill>
                      <a:srgbClr val="1B2A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 Treats a crowd as a “thinking fluid” governed by a conservation law for density ρ(x,y,t)
•  </a:t>
                </a:r>
                <a:r>
                  <a:rPr lang="en-US" sz="1250" dirty="0">
                    <a:solidFill>
                      <a:srgbClr val="1B2A4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Direction of travel comes from a potential field: pedestrians choose the path of least instantaneous cost, not shortest distance
•  Identifies two flow regimes — subcritical (dense, fills all available space) and supercritical (can self-confine)
•  Validated qualitatively against aerial observations of pilgrim flow at the Jamarat Bridge, Mecca</a:t>
                </a:r>
              </a:p>
              <a:p>
                <a:pPr marL="0" indent="0">
                  <a:lnSpc>
                    <a:spcPct val="115000"/>
                  </a:lnSpc>
                  <a:buNone/>
                </a:pPr>
                <a:endParaRPr lang="en-US" sz="1250" dirty="0">
                  <a:solidFill>
                    <a:srgbClr val="1B2A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lvl="0"/>
                <a:r>
                  <a:rPr lang="en-IN" sz="125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crowd is treated as a continuum, similar to a compressible fluid. </a:t>
                </a:r>
              </a:p>
              <a:p>
                <a:pPr lvl="0"/>
                <a:r>
                  <a:rPr lang="en-IN" sz="125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Density, </a:t>
                </a:r>
                <a14:m>
                  <m:oMath xmlns:m="http://schemas.openxmlformats.org/officeDocument/2006/math">
                    <m:r>
                      <a:rPr lang="en-IN" sz="125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sepChr m:val=","/>
                        <m:ctrlPr>
                          <a:rPr lang="en-IN" sz="125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25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IN" sz="125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IN" sz="125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sz="125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represents the number of pedestrians per unit area</a:t>
                </a:r>
                <a:r>
                  <a:rPr lang="en-IN" sz="1400" dirty="0"/>
                  <a:t>.</a:t>
                </a:r>
              </a:p>
              <a:p>
                <a:pPr marL="0" indent="0">
                  <a:lnSpc>
                    <a:spcPct val="115000"/>
                  </a:lnSpc>
                  <a:buNone/>
                </a:pPr>
                <a:endParaRPr lang="en-US" sz="1250" dirty="0">
                  <a:solidFill>
                    <a:srgbClr val="1B2A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r>
                  <a:rPr lang="en-IN" sz="1250" dirty="0"/>
                  <a:t>The pedestrian velocity depends on: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1250" dirty="0"/>
                  <a:t>Local crowd density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1250" dirty="0"/>
                  <a:t>Walking speed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1250" dirty="0"/>
                  <a:t>Direction of movement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1250" dirty="0"/>
                  <a:t>Travel cost towards the destination</a:t>
                </a:r>
              </a:p>
              <a:p>
                <a:pPr marL="0" indent="0">
                  <a:lnSpc>
                    <a:spcPct val="115000"/>
                  </a:lnSpc>
                  <a:buNone/>
                </a:pPr>
                <a:endParaRPr lang="en-US" sz="1250" dirty="0">
                  <a:solidFill>
                    <a:srgbClr val="1B2A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:endParaRPr lang="en-US" sz="1250" dirty="0">
                  <a:solidFill>
                    <a:srgbClr val="1B2A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:endParaRPr lang="en-US" sz="1250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231D7083-4FB9-BC98-0A7C-4629AA0BC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364746"/>
                <a:ext cx="6309360" cy="3872204"/>
              </a:xfrm>
              <a:prstGeom prst="rect">
                <a:avLst/>
              </a:prstGeom>
              <a:blipFill>
                <a:blip r:embed="rId3"/>
                <a:stretch>
                  <a:fillRect l="-97" t="-10551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>
            <a:extLst>
              <a:ext uri="{FF2B5EF4-FFF2-40B4-BE49-F238E27FC236}">
                <a16:creationId xmlns:a16="http://schemas.microsoft.com/office/drawing/2014/main" id="{F7570F66-D8B2-B076-5F6A-DC9E5960DE7B}"/>
              </a:ext>
            </a:extLst>
          </p:cNvPr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498AEF-5430-6F78-9B21-7B3F6311D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8046" y="1879314"/>
            <a:ext cx="2591025" cy="2459422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04C3FC7-3F63-0B37-B1D2-5820A683AD97}"/>
              </a:ext>
            </a:extLst>
          </p:cNvPr>
          <p:cNvSpPr txBox="1"/>
          <p:nvPr/>
        </p:nvSpPr>
        <p:spPr>
          <a:xfrm>
            <a:off x="548640" y="846843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Hughes, R. L. (2002). A continuum theory for the flow of pedestrians. Transportation Research Part B: Methodological, 36(6), 507–535.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93059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efficient solution algorithm for Hughes'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65376"/>
            <a:ext cx="6949440" cy="4114800"/>
          </a:xfrm>
          <a:prstGeom prst="roundRect">
            <a:avLst>
              <a:gd name="adj" fmla="val 1778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6309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Reformulates Hughes’ model and connects it to reactive dynamic user equilibrium: each pedestrian minimizes their own instantaneous travel cost
•  Proposes a concrete numerical scheme: WENO for the conservation law + Fast Sweeping Method for the Eikonal (potential) equation
•  Demonstrates the algorithm on a numerical benchmark — a corridor with an obstacle, two exits, and a time-varying inflow pulse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Crowd Dynamics — UGP Progress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BECF2C-D55B-3E25-BA6F-34B52B5E9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171" y="1927704"/>
            <a:ext cx="2568163" cy="3436918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1D1677CA-9D28-55A1-DA0F-1529DFFB64A2}"/>
              </a:ext>
            </a:extLst>
          </p:cNvPr>
          <p:cNvSpPr txBox="1"/>
          <p:nvPr/>
        </p:nvSpPr>
        <p:spPr>
          <a:xfrm>
            <a:off x="469330" y="969264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Huang, L., Wong, S. C., Zhang, M., Shu, C.-W., &amp; Lam, W. H. K. (2009). Revisiting Hughes’ dynamic continuum model for pedestrian flow and the development of an efficient solution algorithm. Transportation Research Part B: Methodological, 43(1), 127–141.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Governing equations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LAW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3055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∂ρ/∂t + ∇·(ρv) = 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919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ρ(x,y,t) is neither created nor destroyed — it only redistributes through the velocity field v.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8288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LAW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3055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v(ρ) = 2 (1 − ρ/10)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7919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speed falls off linearly with local density, reaching zero at the maximum packing density.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6576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EIKONAL EQUATION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95935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|∇φ| = cost(ρ)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0799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is a travel-cost potential toward the nearest exit; pedestrians always move down its steepest gradient.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5204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36576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95935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cost = 1/v(ρ) + discomfort(ρ)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50799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slowdown from crowding with an explicit “crowding penalty” that discourages dense regions.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method: two coupled solves per timestep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B2A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4825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fields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speed(ρ), discomfort(ρ), cost(ρ) from current density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5400000">
            <a:off x="3849624" y="2423160"/>
            <a:ext cx="201168" cy="237744"/>
          </a:xfrm>
          <a:prstGeom prst="triangle">
            <a:avLst/>
          </a:prstGeom>
          <a:solidFill>
            <a:srgbClr val="1E8449"/>
          </a:solidFill>
          <a:ln/>
        </p:spPr>
      </p:sp>
      <p:sp>
        <p:nvSpPr>
          <p:cNvPr id="8" name="Shape 6"/>
          <p:cNvSpPr/>
          <p:nvPr/>
        </p:nvSpPr>
        <p:spPr>
          <a:xfrm>
            <a:off x="4343400" y="19202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204825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Solve Eikonal eqn.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774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1st-order Godunov fast sweep → refined by high-order WENO fast sweep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7644384" y="2423160"/>
            <a:ext cx="201168" cy="237744"/>
          </a:xfrm>
          <a:prstGeom prst="triangle">
            <a:avLst/>
          </a:prstGeom>
          <a:solidFill>
            <a:srgbClr val="1E8449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0" y="19202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B2A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204825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Get velocity field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3774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speed · (−∇φ / |∇φ|), CFL-based adaptive Δt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779008" y="3273552"/>
            <a:ext cx="237744" cy="201168"/>
          </a:xfrm>
          <a:prstGeom prst="triangle">
            <a:avLst/>
          </a:prstGeom>
          <a:solidFill>
            <a:srgbClr val="1E844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83133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WENO5 flux (space)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605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reconstruction with Lax–Friedrichs flux splitting at each cell face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3849624" y="4206240"/>
            <a:ext cx="201168" cy="237744"/>
          </a:xfrm>
          <a:prstGeom prst="triangle">
            <a:avLst/>
          </a:prstGeom>
          <a:solidFill>
            <a:srgbClr val="1E8449"/>
          </a:solidFill>
          <a:ln/>
        </p:spPr>
      </p:sp>
      <p:sp>
        <p:nvSpPr>
          <p:cNvPr id="20" name="Shape 18"/>
          <p:cNvSpPr/>
          <p:nvPr/>
        </p:nvSpPr>
        <p:spPr>
          <a:xfrm>
            <a:off x="4343400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26280" y="383133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SSP-RK3 (time)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1605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strong-stability-preserving Runge–Kutta update for 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644384" y="4206240"/>
            <a:ext cx="201168" cy="237744"/>
          </a:xfrm>
          <a:prstGeom prst="triangle">
            <a:avLst/>
          </a:prstGeom>
          <a:solidFill>
            <a:srgbClr val="1E8449"/>
          </a:solidFill>
          <a:ln/>
        </p:spPr>
      </p:sp>
      <p:sp>
        <p:nvSpPr>
          <p:cNvPr id="24" name="Shape 22"/>
          <p:cNvSpPr/>
          <p:nvPr/>
        </p:nvSpPr>
        <p:spPr>
          <a:xfrm>
            <a:off x="8138160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21040" y="383133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Boundary + repeat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1605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exit/wall boundary conditions, extrapolate ghost cells, advance 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problem: reproducing Huang et al. (2009)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669280" cy="3840480"/>
          </a:xfrm>
          <a:prstGeom prst="roundRect">
            <a:avLst>
              <a:gd name="adj" fmla="val 1429"/>
            </a:avLst>
          </a:prstGeom>
          <a:solidFill>
            <a:srgbClr val="F4F6F8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49377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3337560"/>
            <a:ext cx="1005840" cy="1463040"/>
          </a:xfrm>
          <a:prstGeom prst="rect">
            <a:avLst/>
          </a:prstGeom>
          <a:solidFill>
            <a:srgbClr val="AAB4BE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3931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79008" y="2880360"/>
            <a:ext cx="146304" cy="5029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Shape 8"/>
          <p:cNvSpPr/>
          <p:nvPr/>
        </p:nvSpPr>
        <p:spPr>
          <a:xfrm>
            <a:off x="5779008" y="4343400"/>
            <a:ext cx="146304" cy="5029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0" y="2926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4389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4069080"/>
            <a:ext cx="292608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48640" y="418795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532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inflow enters at the left wall (pulse, t = 0–120s)  •  Exits on the right wall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806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× 50m corridor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423160"/>
            <a:ext cx="5074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Domain: 100m × 50m corridor, zero initial density
•  One rectangular obstacle placed centrally, blocking the direct path
•  Two exits on the right wall
•  Unsteady inflow at the left wall: ramps up for 60s, back down over the next 60s, then stops — modelling a pulse of arriving pedestrians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3AE28-0F72-FA36-5914-8D56B9CB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60E0EB-3C00-DDEC-9A7B-4DD49E5C97C9}"/>
              </a:ext>
            </a:extLst>
          </p:cNvPr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166D1F-5815-BC26-B339-8F5FAC1370E1}"/>
              </a:ext>
            </a:extLst>
          </p:cNvPr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problem: reproducing Huang et al. (2009)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A86CA96-6511-88ED-2A31-A744AD73BD0D}"/>
              </a:ext>
            </a:extLst>
          </p:cNvPr>
          <p:cNvSpPr/>
          <p:nvPr/>
        </p:nvSpPr>
        <p:spPr>
          <a:xfrm>
            <a:off x="594360" y="4069080"/>
            <a:ext cx="292608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3892BC-6B3E-4C3D-8C55-C18A941BDF83}"/>
              </a:ext>
            </a:extLst>
          </p:cNvPr>
          <p:cNvSpPr txBox="1"/>
          <p:nvPr/>
        </p:nvSpPr>
        <p:spPr>
          <a:xfrm>
            <a:off x="548640" y="418795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919CAC-31BE-4981-C24D-8E80AD963BF3}"/>
              </a:ext>
            </a:extLst>
          </p:cNvPr>
          <p:cNvSpPr txBox="1"/>
          <p:nvPr/>
        </p:nvSpPr>
        <p:spPr>
          <a:xfrm>
            <a:off x="914400" y="5532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inflow enters at the left wall (pulse, t = 0–120s)  •  Exits on the right wall</a:t>
            </a:r>
            <a:endParaRPr lang="en-US" sz="9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A15C2A7-7ABA-674A-4DE1-61A1197484A3}"/>
              </a:ext>
            </a:extLst>
          </p:cNvPr>
          <p:cNvSpPr txBox="1"/>
          <p:nvPr/>
        </p:nvSpPr>
        <p:spPr>
          <a:xfrm>
            <a:off x="914400" y="5806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× 50m corridor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2C5A615-3239-E2E9-58BE-128DB0B05D68}"/>
              </a:ext>
            </a:extLst>
          </p:cNvPr>
          <p:cNvSpPr txBox="1"/>
          <p:nvPr/>
        </p:nvSpPr>
        <p:spPr>
          <a:xfrm>
            <a:off x="6537960" y="2423160"/>
            <a:ext cx="5074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/>
              <a:t>Observation:</a:t>
            </a:r>
            <a:r>
              <a:rPr lang="en-IN" sz="1400" dirty="0"/>
              <a:t> </a:t>
            </a:r>
          </a:p>
          <a:p>
            <a:r>
              <a:rPr lang="en-IN" sz="1400" dirty="0"/>
              <a:t>The crowd flow splits around the central obstacle and converges towards the available exits</a:t>
            </a:r>
            <a:endParaRPr lang="en-US" sz="12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A692CE5-DE4E-D8D7-3CF1-2EB629C7474A}"/>
              </a:ext>
            </a:extLst>
          </p:cNvPr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A66258A-CFC1-A595-02AE-A0B4D099E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37" y="2659151"/>
            <a:ext cx="4877223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3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the model: single-room evacuation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solver validated, I moved to a second, practically-motivated scenario: how many exits does a room need to evacuate quickly?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669280" cy="3657600"/>
          </a:xfrm>
          <a:prstGeom prst="roundRect">
            <a:avLst>
              <a:gd name="adj" fmla="val 1500"/>
            </a:avLst>
          </a:prstGeom>
          <a:solidFill>
            <a:srgbClr val="F4F6F8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606040"/>
            <a:ext cx="42976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2606040"/>
            <a:ext cx="2148840" cy="3017520"/>
          </a:xfrm>
          <a:prstGeom prst="rect">
            <a:avLst/>
          </a:prstGeom>
          <a:solidFill>
            <a:srgbClr val="F5B7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3794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block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(100m × 50m)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70432" y="2788920"/>
            <a:ext cx="146304" cy="4114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" y="3703320"/>
            <a:ext cx="146304" cy="4114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Shape 9"/>
          <p:cNvSpPr/>
          <p:nvPr/>
        </p:nvSpPr>
        <p:spPr>
          <a:xfrm>
            <a:off x="1170432" y="4617720"/>
            <a:ext cx="146304" cy="4114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6035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doors, width 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spaced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5715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× 100m room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1508760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Room: 100m × 100m, initially empty
•  Crowd occupies the right half (100m × 50m block) at a chosen density
•  N equally-spaced exits of width D on the left wall
•  Problem: How does evacuation time change as N (number of doors) varies?
Make a final graph with total evacuation time with number of doors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E60F354-B445-273B-65C7-7CE8C2126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4736521"/>
            <a:ext cx="3734124" cy="8230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68328D1-E469-EFCC-B340-8C753D62C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604712"/>
            <a:ext cx="2237480" cy="12185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5B3AF7-2277-7C91-3F20-DC32A86D6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5420" y="5806979"/>
            <a:ext cx="1981372" cy="5944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5E17C684-C6DA-AE71-C1F6-AE3999141261}"/>
              </a:ext>
            </a:extLst>
          </p:cNvPr>
          <p:cNvSpPr txBox="1"/>
          <p:nvPr/>
        </p:nvSpPr>
        <p:spPr>
          <a:xfrm>
            <a:off x="147424" y="29260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</a:rPr>
              <a:t>Parameters:</a:t>
            </a:r>
            <a:endParaRPr lang="en-US" sz="3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75956A-40AC-3DD1-471D-82A823020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895" y="930748"/>
            <a:ext cx="3752004" cy="2596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C0A983-29FD-3298-FC72-20CA16987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04" y="3826118"/>
            <a:ext cx="4055406" cy="2460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E84A83-3265-C40E-617B-DCCA7839E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34" y="3708683"/>
            <a:ext cx="3456895" cy="2616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C93657-A4F9-D710-6F1A-F961E411A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625" y="986474"/>
            <a:ext cx="3631963" cy="2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28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bounds the range of N tested?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NO-CHOKING CONDITION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 · D · 5  ≥  100 · ρ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exit throughput (doors × width × max flux) must meet or exceed crowd demand — otherwise density piles up faster than doors can drain it.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 = 15m, ρ = 1: this requires N ≥ 2 — which is why the sweep starts at N = 2, not N = 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FIT CONDITION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423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 · D  ≤  wall length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0175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doors must physically fit along the wall without overlapping — the code enforces this and errors out if violated.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40690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 = 15m on a 100m wall: N ≤ 6 — which sets the upper end of the sweep.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Crowd Dynamics — UGP Progress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Evacuation time vs. number of doors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262257" y="1389888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Observations:</a:t>
            </a:r>
          </a:p>
          <a:p>
            <a:pPr marL="0" indent="0">
              <a:buNone/>
            </a:pPr>
            <a:r>
              <a:rPr lang="en-US" sz="1400" dirty="0"/>
              <a:t>Total evacuation time is decreasing with increasing the number of doors.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CA528574-1F3C-9DCA-1C08-912B5A5817CB}"/>
              </a:ext>
            </a:extLst>
          </p:cNvPr>
          <p:cNvSpPr/>
          <p:nvPr/>
        </p:nvSpPr>
        <p:spPr>
          <a:xfrm>
            <a:off x="813816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B2A41"/>
          </a:solidFill>
          <a:ln/>
        </p:spPr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D5BE9318-158C-1B1A-9BB8-8702EF88178B}"/>
              </a:ext>
            </a:extLst>
          </p:cNvPr>
          <p:cNvSpPr txBox="1"/>
          <p:nvPr/>
        </p:nvSpPr>
        <p:spPr>
          <a:xfrm>
            <a:off x="8366760" y="41148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N_doors   EvacTime_s</a:t>
            </a:r>
            <a:endParaRPr lang="en-US" sz="110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FDBD41E0-A89A-4E22-1D61-4DF6CDCC8ED3}"/>
              </a:ext>
            </a:extLst>
          </p:cNvPr>
          <p:cNvSpPr txBox="1"/>
          <p:nvPr/>
        </p:nvSpPr>
        <p:spPr>
          <a:xfrm>
            <a:off x="8366760" y="44348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2            70.21</a:t>
            </a:r>
            <a:endParaRPr lang="en-US" sz="105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99BD381B-FA7E-EB52-1378-A6B06480EAFB}"/>
              </a:ext>
            </a:extLst>
          </p:cNvPr>
          <p:cNvSpPr txBox="1"/>
          <p:nvPr/>
        </p:nvSpPr>
        <p:spPr>
          <a:xfrm>
            <a:off x="8366760" y="46863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3            58.44</a:t>
            </a:r>
            <a:endParaRPr lang="en-US" sz="105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C914FD46-C2C9-F079-DB9C-5D553EAF938B}"/>
              </a:ext>
            </a:extLst>
          </p:cNvPr>
          <p:cNvSpPr txBox="1"/>
          <p:nvPr/>
        </p:nvSpPr>
        <p:spPr>
          <a:xfrm>
            <a:off x="8366760" y="494690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4            55.75</a:t>
            </a:r>
            <a:endParaRPr lang="en-US" sz="1050" dirty="0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F98DD429-1C57-FFA1-CDCF-C25A44CAB2BC}"/>
              </a:ext>
            </a:extLst>
          </p:cNvPr>
          <p:cNvSpPr txBox="1"/>
          <p:nvPr/>
        </p:nvSpPr>
        <p:spPr>
          <a:xfrm>
            <a:off x="8366760" y="520293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5            55.67</a:t>
            </a:r>
            <a:endParaRPr lang="en-US" sz="1050" dirty="0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6C23FDE9-2119-FEE8-2CC9-287090950B47}"/>
              </a:ext>
            </a:extLst>
          </p:cNvPr>
          <p:cNvSpPr txBox="1"/>
          <p:nvPr/>
        </p:nvSpPr>
        <p:spPr>
          <a:xfrm>
            <a:off x="8366760" y="54589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6            55.00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86E10-57B4-9A5D-E576-E048845B2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389888"/>
            <a:ext cx="6400813" cy="45720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 state, by number of doors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080260" y="11579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99582" y="120089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37142" y="121793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893664" y="3843807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90616" y="3853055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6AF0F80-C678-7486-AB40-7DE6C9DB0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1" y="1478000"/>
            <a:ext cx="2736769" cy="236580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D438DE-6636-EA1A-7ED3-878D81BC9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561" y="1432280"/>
            <a:ext cx="2811055" cy="243002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DEC3272-B6B6-DE0E-B674-B78CFD8FE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429494"/>
            <a:ext cx="2773166" cy="23972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157B196-9727-17CD-0299-7A5D382C40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488" y="4197432"/>
            <a:ext cx="2841771" cy="245657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29B8013-990D-7DF3-182D-387FFCFD5E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6984" y="4197432"/>
            <a:ext cx="2841771" cy="24565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EB145-C1CC-34DB-E37F-E8D63E36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DF945E-E1B8-356F-70F5-854DD4EDEA2E}"/>
              </a:ext>
            </a:extLst>
          </p:cNvPr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F6A083-1648-073F-E6CA-81198D861E1F}"/>
              </a:ext>
            </a:extLst>
          </p:cNvPr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</a:rPr>
              <a:t>Simulation for N=2</a:t>
            </a:r>
            <a:endParaRPr lang="en-US" sz="3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6BA1A56-28C2-280C-CCE7-F4D7B31379E9}"/>
              </a:ext>
            </a:extLst>
          </p:cNvPr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5" name="N=2_compressed">
            <a:hlinkClick r:id="" action="ppaction://media"/>
            <a:extLst>
              <a:ext uri="{FF2B5EF4-FFF2-40B4-BE49-F238E27FC236}">
                <a16:creationId xmlns:a16="http://schemas.microsoft.com/office/drawing/2014/main" id="{2596CB0F-21A3-52BA-607E-2EE9B88A6DC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27238" y="1657795"/>
            <a:ext cx="8137525" cy="454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1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74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</a:rPr>
              <a:t>Future Work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064D7-CED2-F469-FE4A-BA9AD442660A}"/>
              </a:ext>
            </a:extLst>
          </p:cNvPr>
          <p:cNvSpPr txBox="1"/>
          <p:nvPr/>
        </p:nvSpPr>
        <p:spPr>
          <a:xfrm>
            <a:off x="548640" y="1593131"/>
            <a:ext cx="765296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50" dirty="0"/>
              <a:t>Study the effect of different crowd densities on evacuation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50" dirty="0"/>
              <a:t>Vary the door width and </a:t>
            </a:r>
            <a:r>
              <a:rPr lang="en-IN" sz="1250" dirty="0" err="1"/>
              <a:t>analyze</a:t>
            </a:r>
            <a:r>
              <a:rPr lang="en-IN" sz="1250" dirty="0"/>
              <a:t> its influence on evacuation efficiency.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50" dirty="0"/>
              <a:t>Induce some obstacles in between the room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50" dirty="0"/>
              <a:t>Perform simulations with a different number of doors.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50" dirty="0"/>
              <a:t>Calculate the total evacuation time for each door configuration.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50" dirty="0"/>
              <a:t>Plot Evacuation Time vs. Number of Doors to study the effect of increasing exits.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50" dirty="0"/>
              <a:t>Compare the results for different densities and door widths to identify their influence on evacuation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50" dirty="0" err="1"/>
              <a:t>Analyze</a:t>
            </a:r>
            <a:r>
              <a:rPr lang="en-IN" sz="1250" dirty="0"/>
              <a:t> the effectiveness of additional exits and identify the point beyond which adding more doors provides limited improvement.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A9F5A-399D-E33D-D1BC-14F29F8E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FD7BA8-05E1-E9E9-1EA8-11E17C453607}"/>
              </a:ext>
            </a:extLst>
          </p:cNvPr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28C163-F350-12B0-FCDE-9B76563127FD}"/>
              </a:ext>
            </a:extLst>
          </p:cNvPr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0B7A217-D6C4-0900-F685-7460DB5A7677}"/>
              </a:ext>
            </a:extLst>
          </p:cNvPr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B69F870-1C04-6B70-76D3-D950E434E535}"/>
              </a:ext>
            </a:extLst>
          </p:cNvPr>
          <p:cNvSpPr txBox="1"/>
          <p:nvPr/>
        </p:nvSpPr>
        <p:spPr>
          <a:xfrm>
            <a:off x="77724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D380EE-6B67-F007-213B-E0C769449558}"/>
              </a:ext>
            </a:extLst>
          </p:cNvPr>
          <p:cNvSpPr txBox="1"/>
          <p:nvPr/>
        </p:nvSpPr>
        <p:spPr>
          <a:xfrm>
            <a:off x="1234440" y="214884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Hughes, R. L. (2002). A continuum theory for the flow of pedestrians. Transportation Research Part B: Methodological, 36(6), 507–535.</a:t>
            </a:r>
            <a:endParaRPr lang="en-US" sz="1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3D651BC-5D87-9E32-8BDA-8C2B49DA428C}"/>
              </a:ext>
            </a:extLst>
          </p:cNvPr>
          <p:cNvSpPr/>
          <p:nvPr/>
        </p:nvSpPr>
        <p:spPr>
          <a:xfrm>
            <a:off x="548640" y="34290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109B08-459D-0A5E-5565-CEA04A8DAA04}"/>
              </a:ext>
            </a:extLst>
          </p:cNvPr>
          <p:cNvSpPr txBox="1"/>
          <p:nvPr/>
        </p:nvSpPr>
        <p:spPr>
          <a:xfrm>
            <a:off x="77724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CF7403-A3FA-E6E1-A7ED-B04E0DF35959}"/>
              </a:ext>
            </a:extLst>
          </p:cNvPr>
          <p:cNvSpPr txBox="1"/>
          <p:nvPr/>
        </p:nvSpPr>
        <p:spPr>
          <a:xfrm>
            <a:off x="1234440" y="356616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Huang, L., Wong, S. C., Zhang, M., Shu, C.-W., &amp; Lam, W. H. K. (2009). Revisiting Hughes’ dynamic continuum model for pedestrian flow and the development of an efficient solution algorithm. Transportation Research Part B: Methodological, 43(1), 127–141.</a:t>
            </a:r>
            <a:endParaRPr lang="en-US" sz="12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B03198-B062-DCC3-8F8D-A230CAF38424}"/>
              </a:ext>
            </a:extLst>
          </p:cNvPr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93278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645467"/>
            <a:ext cx="118872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4696</TotalTime>
  <Words>1404</Words>
  <Application>Microsoft Office PowerPoint</Application>
  <PresentationFormat>Widescreen</PresentationFormat>
  <Paragraphs>159</Paragraphs>
  <Slides>17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Ananya Narayani</cp:lastModifiedBy>
  <cp:revision>9</cp:revision>
  <dcterms:created xsi:type="dcterms:W3CDTF">2026-09-05T15:25:24Z</dcterms:created>
  <dcterms:modified xsi:type="dcterms:W3CDTF">2026-09-13T10:32:11Z</dcterms:modified>
</cp:coreProperties>
</file>